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tiff" ContentType="image/tiff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3"/>
  </p:handoutMasterIdLst>
  <p:sldIdLst>
    <p:sldId id="256" r:id="rId4"/>
    <p:sldId id="257" r:id="rId6"/>
    <p:sldId id="304" r:id="rId7"/>
    <p:sldId id="344" r:id="rId8"/>
    <p:sldId id="306" r:id="rId9"/>
    <p:sldId id="334" r:id="rId10"/>
    <p:sldId id="312" r:id="rId11"/>
    <p:sldId id="329" r:id="rId12"/>
    <p:sldId id="324" r:id="rId13"/>
    <p:sldId id="345" r:id="rId14"/>
    <p:sldId id="332" r:id="rId15"/>
    <p:sldId id="338" r:id="rId16"/>
    <p:sldId id="354" r:id="rId17"/>
    <p:sldId id="353" r:id="rId18"/>
    <p:sldId id="340" r:id="rId19"/>
    <p:sldId id="333" r:id="rId20"/>
    <p:sldId id="321" r:id="rId21"/>
    <p:sldId id="34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13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5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.emf"/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43BEE-9186-43F1-96D7-CB31801FC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06906-1390-4F73-A6EE-D2653A7D17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06906-1390-4F73-A6EE-D2653A7D1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黑色素瘤是侵袭性较强的皮肤恶性肿瘤</a:t>
            </a:r>
            <a:r>
              <a:rPr lang="en-US" altLang="zh-CN"/>
              <a:t>，</a:t>
            </a:r>
            <a:r>
              <a:rPr lang="zh-CN" altLang="en-US"/>
              <a:t>虽然目前靶向和免疫显著改善了晚期患者预后，但治疗耐药仍然是重要问题。在黑色素瘤的免疫微环境中</a:t>
            </a:r>
            <a:r>
              <a:rPr lang="en-US" altLang="zh-CN"/>
              <a:t>，</a:t>
            </a:r>
            <a:r>
              <a:rPr lang="zh-CN" altLang="en-US"/>
              <a:t>肿瘤相关巨噬细胞，也就是</a:t>
            </a:r>
            <a:r>
              <a:rPr lang="en-US" altLang="zh-CN"/>
              <a:t>TAM</a:t>
            </a:r>
            <a:r>
              <a:rPr lang="zh-CN" altLang="en-US"/>
              <a:t>，是重要的免疫细胞群体，并通过</a:t>
            </a:r>
            <a:r>
              <a:rPr lang="zh-CN" altLang="en-US"/>
              <a:t>如高表达</a:t>
            </a:r>
            <a:r>
              <a:rPr lang="en-US" altLang="zh-CN"/>
              <a:t>PD-L1</a:t>
            </a:r>
            <a:r>
              <a:rPr lang="zh-CN" altLang="en-US"/>
              <a:t>等多种机制</a:t>
            </a:r>
            <a:r>
              <a:rPr lang="zh-CN" altLang="en-US"/>
              <a:t>参与黑色素瘤的免疫逃逸和治疗抵抗。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近年来，免疫代谢研究的兴起揭示，细胞代谢重编程是调控免疫细胞功能与命运的核心环节。与正常组织细胞相比</a:t>
            </a:r>
            <a:r>
              <a:rPr lang="en-US" altLang="zh-CN"/>
              <a:t>，TME</a:t>
            </a:r>
            <a:r>
              <a:rPr lang="zh-CN" altLang="en-US"/>
              <a:t>富含脂肪酸，</a:t>
            </a:r>
            <a:r>
              <a:rPr lang="en-US" altLang="zh-CN"/>
              <a:t>TAMs</a:t>
            </a:r>
            <a:r>
              <a:rPr lang="zh-CN" altLang="en-US"/>
              <a:t>经历了一系列脂质代谢重新编程来获得生存优势</a:t>
            </a:r>
            <a:r>
              <a:rPr lang="en-US" altLang="zh-CN"/>
              <a:t>，</a:t>
            </a:r>
            <a:r>
              <a:rPr lang="zh-CN" altLang="en-US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脂质代谢重编程是维持</a:t>
            </a:r>
            <a:r>
              <a:rPr lang="en-US" altLang="zh-CN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TAM</a:t>
            </a:r>
            <a:r>
              <a:rPr lang="zh-CN" altLang="en-US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免疫抑制表型的重要机制</a:t>
            </a:r>
            <a:r>
              <a:rPr lang="en-US" altLang="zh-CN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。</a:t>
            </a:r>
            <a:r>
              <a:rPr lang="zh-CN" altLang="en-US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其中</a:t>
            </a:r>
            <a:r>
              <a:rPr lang="en-US" altLang="zh-CN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，</a:t>
            </a:r>
            <a:r>
              <a:rPr lang="zh-CN" altLang="en-US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作为长链脂肪酸胞内运输和信号转导的关键分子</a:t>
            </a:r>
            <a:r>
              <a:rPr lang="en-US" altLang="zh-CN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，fabp5</a:t>
            </a:r>
            <a:r>
              <a:rPr lang="zh-CN" altLang="en-US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在肝细胞癌中调控巨噬细胞免疫抑制功能的机制已被揭示</a:t>
            </a:r>
            <a:r>
              <a:rPr lang="en-US" altLang="zh-CN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，</a:t>
            </a:r>
            <a:r>
              <a:rPr lang="zh-CN" altLang="en-US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但其在黑色素瘤的作用不明</a:t>
            </a:r>
            <a:r>
              <a:rPr lang="en-US" altLang="zh-CN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。</a:t>
            </a:r>
            <a:endParaRPr lang="en-US" altLang="zh-CN">
              <a:latin typeface="宋体" pitchFamily="2" charset="-122"/>
              <a:ea typeface="宋体" pitchFamily="2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我们的研究总体按照这样一条逻辑推进：首先利用公共数据库明确</a:t>
            </a:r>
            <a:r>
              <a:rPr lang="en-US" altLang="zh-CN"/>
              <a:t>FABP5</a:t>
            </a:r>
            <a:r>
              <a:rPr lang="zh-CN" altLang="en-US"/>
              <a:t>的临床相关性和细胞来源；随后通过遗传敲除和药理抑制进行</a:t>
            </a:r>
            <a:r>
              <a:rPr lang="en-US" altLang="zh-CN"/>
              <a:t>FABP5</a:t>
            </a:r>
            <a:r>
              <a:rPr lang="zh-CN" altLang="en-US"/>
              <a:t>与预后的因果验证；进一步利用单细胞测序和流式分析免疫微环境；再通过</a:t>
            </a:r>
            <a:r>
              <a:rPr lang="en-US" altLang="zh-CN"/>
              <a:t>CD8</a:t>
            </a:r>
            <a:r>
              <a:rPr lang="zh-CN" altLang="en-US"/>
              <a:t>清除实验确定关键效应细胞；最后结合</a:t>
            </a:r>
            <a:r>
              <a:rPr lang="en-US" altLang="zh-CN"/>
              <a:t>TAM </a:t>
            </a:r>
            <a:r>
              <a:rPr lang="zh-CN" altLang="en-US"/>
              <a:t>转录组测序、单细胞分析</a:t>
            </a:r>
            <a:r>
              <a:rPr lang="en-US" altLang="zh-CN"/>
              <a:t>、qPCR</a:t>
            </a:r>
            <a:r>
              <a:rPr lang="zh-CN" altLang="en-US"/>
              <a:t>等</a:t>
            </a:r>
            <a:r>
              <a:rPr lang="zh-CN" altLang="en-US"/>
              <a:t>技术寻找下游候选机制。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首先，在</a:t>
            </a:r>
            <a:r>
              <a:rPr lang="en-US" altLang="zh-CN"/>
              <a:t>TCGA</a:t>
            </a:r>
            <a:r>
              <a:rPr lang="zh-CN" altLang="en-US"/>
              <a:t>和</a:t>
            </a:r>
            <a:r>
              <a:rPr lang="en-US" altLang="zh-CN"/>
              <a:t>GEO</a:t>
            </a:r>
            <a:r>
              <a:rPr lang="zh-CN" altLang="en-US"/>
              <a:t>数据中，</a:t>
            </a:r>
            <a:r>
              <a:rPr lang="en-US" altLang="zh-CN"/>
              <a:t>FABP5</a:t>
            </a:r>
            <a:r>
              <a:rPr lang="zh-CN" altLang="en-US"/>
              <a:t>高表达组总体表现出较差的生存结局；在人和小鼠黑色素瘤单细胞数据中，</a:t>
            </a:r>
            <a:r>
              <a:rPr lang="en-US" altLang="zh-CN"/>
              <a:t>FABP5</a:t>
            </a:r>
            <a:r>
              <a:rPr lang="zh-CN" altLang="en-US"/>
              <a:t>又主要富集在巨噬细胞群体。这提示</a:t>
            </a:r>
            <a:r>
              <a:rPr lang="en-US" altLang="zh-CN"/>
              <a:t>FABP5</a:t>
            </a:r>
            <a:r>
              <a:rPr lang="zh-CN" altLang="en-US"/>
              <a:t>可能通过</a:t>
            </a:r>
            <a:r>
              <a:rPr lang="en-US" altLang="zh-CN"/>
              <a:t>TAM</a:t>
            </a:r>
            <a:r>
              <a:rPr lang="zh-CN" altLang="en-US"/>
              <a:t>参与黑色素瘤进展。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接下来我们从三个角度验证</a:t>
            </a:r>
            <a:r>
              <a:rPr lang="en-US" altLang="zh-CN"/>
              <a:t>FABP5</a:t>
            </a:r>
            <a:r>
              <a:rPr lang="zh-CN" altLang="en-US"/>
              <a:t>的功能。无论是全身</a:t>
            </a:r>
            <a:r>
              <a:rPr lang="en-US" altLang="zh-CN"/>
              <a:t>Fabp5</a:t>
            </a:r>
            <a:r>
              <a:rPr lang="zh-CN" altLang="en-US"/>
              <a:t>敲除、</a:t>
            </a:r>
            <a:r>
              <a:rPr lang="en-US" altLang="zh-CN"/>
              <a:t>FABP5</a:t>
            </a:r>
            <a:r>
              <a:rPr lang="zh-CN" altLang="en-US"/>
              <a:t>抑制剂</a:t>
            </a:r>
            <a:r>
              <a:rPr lang="en-US" altLang="zh-CN"/>
              <a:t>SBFI-26</a:t>
            </a:r>
            <a:r>
              <a:rPr lang="zh-CN" altLang="en-US"/>
              <a:t>处理还是</a:t>
            </a:r>
            <a:r>
              <a:rPr lang="zh-CN" altLang="en-US">
                <a:sym typeface="+mn-ea"/>
              </a:rPr>
              <a:t>髓系特异性条件敲除</a:t>
            </a:r>
            <a:r>
              <a:rPr lang="en-US" altLang="zh-CN">
                <a:sym typeface="+mn-ea"/>
              </a:rPr>
              <a:t>，</a:t>
            </a:r>
            <a:r>
              <a:rPr lang="zh-CN" altLang="en-US"/>
              <a:t>都观察到肿瘤体积和重量下降。三种独立干预策略方向一致，说明</a:t>
            </a:r>
            <a:r>
              <a:rPr lang="en-US" altLang="zh-CN"/>
              <a:t>FABP5</a:t>
            </a:r>
            <a:r>
              <a:rPr lang="zh-CN" altLang="en-US"/>
              <a:t>与黑色素瘤生长具有较稳定的功能关联</a:t>
            </a:r>
            <a:r>
              <a:rPr lang="en-US" altLang="zh-CN"/>
              <a:t>，</a:t>
            </a:r>
            <a:r>
              <a:rPr lang="zh-CN" altLang="en-US"/>
              <a:t>且髓系细胞中的</a:t>
            </a:r>
            <a:r>
              <a:rPr lang="en-US" altLang="zh-CN"/>
              <a:t>FABP5</a:t>
            </a:r>
            <a:r>
              <a:rPr lang="zh-CN" altLang="en-US"/>
              <a:t>发挥重要作用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为了进一步解析免疫机制，我们对</a:t>
            </a:r>
            <a:r>
              <a:rPr lang="en-US" altLang="zh-CN"/>
              <a:t>WT</a:t>
            </a:r>
            <a:r>
              <a:rPr lang="zh-CN" altLang="en-US"/>
              <a:t>和</a:t>
            </a:r>
            <a:r>
              <a:rPr lang="en-US" altLang="zh-CN"/>
              <a:t>Fabp5</a:t>
            </a:r>
            <a:r>
              <a:rPr lang="zh-CN" altLang="en-US"/>
              <a:t>条件敲除肿瘤进行了单细胞转录组分析。</a:t>
            </a:r>
            <a:r>
              <a:rPr lang="zh-CN" altLang="en-US">
                <a:sym typeface="+mn-ea"/>
              </a:rPr>
              <a:t>共鉴定出</a:t>
            </a:r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类主要细胞群</a:t>
            </a:r>
            <a:endParaRPr 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进一步对</a:t>
            </a:r>
            <a:r>
              <a:rPr lang="en-US" altLang="zh-CN"/>
              <a:t>T</a:t>
            </a:r>
            <a:r>
              <a:rPr lang="zh-CN" altLang="en-US"/>
              <a:t>细胞亚群分析发现，细胞毒性</a:t>
            </a:r>
            <a:r>
              <a:rPr lang="en-US" altLang="zh-CN"/>
              <a:t>CD8</a:t>
            </a:r>
            <a:r>
              <a:rPr lang="en-US" altLang="en-US"/>
              <a:t>⁺</a:t>
            </a:r>
            <a:r>
              <a:rPr lang="en-US" altLang="zh-CN"/>
              <a:t>T</a:t>
            </a:r>
            <a:r>
              <a:rPr lang="zh-CN" altLang="en-US"/>
              <a:t>细胞亚群占比增加，提示</a:t>
            </a:r>
            <a:r>
              <a:rPr lang="en-US" altLang="zh-CN"/>
              <a:t>fabp5</a:t>
            </a:r>
            <a:r>
              <a:rPr lang="zh-CN" altLang="en-US"/>
              <a:t>缺失后整体免疫状态向抗肿瘤方向偏移。随后流式实验进一步验证，髓系</a:t>
            </a:r>
            <a:r>
              <a:rPr lang="en-US" altLang="zh-CN"/>
              <a:t>Fabp5</a:t>
            </a:r>
            <a:r>
              <a:rPr lang="zh-CN" altLang="en-US"/>
              <a:t>缺失后，肿瘤中</a:t>
            </a:r>
            <a:r>
              <a:rPr lang="en-US" altLang="zh-CN"/>
              <a:t>CD8</a:t>
            </a:r>
            <a:r>
              <a:rPr lang="en-US" altLang="en-US"/>
              <a:t>⁺</a:t>
            </a:r>
            <a:r>
              <a:rPr lang="en-US" altLang="zh-CN"/>
              <a:t>T</a:t>
            </a:r>
            <a:r>
              <a:rPr lang="zh-CN" altLang="en-US"/>
              <a:t>细胞比例升高，其中</a:t>
            </a:r>
            <a:r>
              <a:rPr lang="en-US" altLang="zh-CN"/>
              <a:t>IFN-γ</a:t>
            </a:r>
            <a:r>
              <a:rPr lang="zh-CN" altLang="en-US"/>
              <a:t>表达显著增加；而</a:t>
            </a:r>
            <a:r>
              <a:rPr lang="en-US" altLang="zh-CN"/>
              <a:t>GZMB</a:t>
            </a:r>
            <a:r>
              <a:rPr lang="zh-CN" altLang="en-US"/>
              <a:t>和</a:t>
            </a:r>
            <a:r>
              <a:rPr lang="en-US" altLang="zh-CN"/>
              <a:t>Ki67</a:t>
            </a:r>
            <a:r>
              <a:rPr lang="zh-CN" altLang="en-US"/>
              <a:t>没有观察到显著差异。因此，我们认为</a:t>
            </a:r>
            <a:r>
              <a:rPr lang="en-US" altLang="zh-CN"/>
              <a:t>FABP5</a:t>
            </a:r>
            <a:r>
              <a:rPr lang="zh-CN" altLang="en-US"/>
              <a:t>缺失主要与</a:t>
            </a:r>
            <a:r>
              <a:rPr lang="en-US" altLang="zh-CN"/>
              <a:t>CD8</a:t>
            </a:r>
            <a:r>
              <a:rPr lang="en-US" altLang="en-US"/>
              <a:t>⁺</a:t>
            </a:r>
            <a:r>
              <a:rPr lang="en-US" altLang="zh-CN"/>
              <a:t>T</a:t>
            </a:r>
            <a:r>
              <a:rPr lang="zh-CN" altLang="en-US"/>
              <a:t>细胞浸润和</a:t>
            </a:r>
            <a:r>
              <a:rPr lang="en-US" altLang="zh-CN"/>
              <a:t>IFN-γ</a:t>
            </a:r>
            <a:r>
              <a:rPr lang="zh-CN" altLang="en-US"/>
              <a:t>表达增加相关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为了验证</a:t>
            </a:r>
            <a:r>
              <a:rPr lang="en-US" altLang="zh-CN"/>
              <a:t>CD8</a:t>
            </a:r>
            <a:r>
              <a:rPr lang="en-US" altLang="en-US"/>
              <a:t>⁺</a:t>
            </a:r>
            <a:r>
              <a:rPr lang="en-US" altLang="zh-CN"/>
              <a:t>T</a:t>
            </a:r>
            <a:r>
              <a:rPr lang="zh-CN" altLang="en-US"/>
              <a:t>细胞的必要性，我们使用</a:t>
            </a:r>
            <a:r>
              <a:rPr lang="en-US" altLang="zh-CN"/>
              <a:t>anti-CD8</a:t>
            </a:r>
            <a:r>
              <a:rPr lang="zh-CN" altLang="en-US"/>
              <a:t>抗体清除</a:t>
            </a:r>
            <a:r>
              <a:rPr lang="en-US" altLang="zh-CN"/>
              <a:t>CD8</a:t>
            </a:r>
            <a:r>
              <a:rPr lang="en-US" altLang="en-US"/>
              <a:t>⁺</a:t>
            </a:r>
            <a:r>
              <a:rPr lang="en-US" altLang="zh-CN"/>
              <a:t>T</a:t>
            </a:r>
            <a:r>
              <a:rPr lang="zh-CN" altLang="en-US"/>
              <a:t>细胞。结果发现，</a:t>
            </a:r>
            <a:r>
              <a:rPr lang="en-US" altLang="zh-CN"/>
              <a:t>Fabp5</a:t>
            </a:r>
            <a:r>
              <a:rPr lang="zh-CN" altLang="en-US"/>
              <a:t>条件敲除组肿瘤显著小于</a:t>
            </a:r>
            <a:r>
              <a:rPr lang="en-US" altLang="zh-CN"/>
              <a:t>WT</a:t>
            </a:r>
            <a:r>
              <a:rPr lang="zh-CN" altLang="en-US"/>
              <a:t>组；但清除</a:t>
            </a:r>
            <a:r>
              <a:rPr lang="en-US" altLang="zh-CN"/>
              <a:t>CD8</a:t>
            </a:r>
            <a:r>
              <a:rPr lang="en-US" altLang="en-US"/>
              <a:t>⁺</a:t>
            </a:r>
            <a:r>
              <a:rPr lang="en-US" altLang="zh-CN"/>
              <a:t>T</a:t>
            </a:r>
            <a:r>
              <a:rPr lang="zh-CN" altLang="en-US"/>
              <a:t>细胞后，</a:t>
            </a:r>
            <a:r>
              <a:rPr lang="en-US" altLang="zh-CN"/>
              <a:t>Fabp5</a:t>
            </a:r>
            <a:r>
              <a:rPr lang="zh-CN" altLang="en-US"/>
              <a:t>条件敲除组的肿瘤体积和重量显著回升。</a:t>
            </a:r>
            <a:r>
              <a:rPr lang="zh-CN" altLang="en-US"/>
              <a:t>因此说明</a:t>
            </a:r>
            <a:r>
              <a:rPr lang="en-US" altLang="zh-CN"/>
              <a:t>FABP5</a:t>
            </a:r>
            <a:r>
              <a:rPr lang="zh-CN" altLang="en-US"/>
              <a:t>缺失介导的抗肿瘤效应至少部分依赖</a:t>
            </a:r>
            <a:r>
              <a:rPr lang="en-US" altLang="zh-CN"/>
              <a:t>CD8</a:t>
            </a:r>
            <a:r>
              <a:rPr lang="en-US" altLang="en-US"/>
              <a:t>⁺</a:t>
            </a:r>
            <a:r>
              <a:rPr lang="en-US" altLang="zh-CN"/>
              <a:t>T</a:t>
            </a:r>
            <a:r>
              <a:rPr lang="zh-CN" altLang="en-US"/>
              <a:t>细胞。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接下来我们进一步寻找</a:t>
            </a:r>
            <a:r>
              <a:rPr lang="en-US" altLang="zh-CN"/>
              <a:t>TAM</a:t>
            </a:r>
            <a:r>
              <a:rPr lang="zh-CN" altLang="en-US"/>
              <a:t>与</a:t>
            </a:r>
            <a:r>
              <a:rPr lang="en-US" altLang="zh-CN"/>
              <a:t>CD8</a:t>
            </a:r>
            <a:r>
              <a:rPr lang="en-US" altLang="en-US"/>
              <a:t>⁺</a:t>
            </a:r>
            <a:r>
              <a:rPr lang="en-US" altLang="zh-CN"/>
              <a:t>T</a:t>
            </a:r>
            <a:r>
              <a:rPr lang="zh-CN" altLang="en-US"/>
              <a:t>之间的信号联系。为探索机制，我们对分选的</a:t>
            </a:r>
            <a:r>
              <a:rPr lang="en-US" altLang="zh-CN"/>
              <a:t>TAM</a:t>
            </a:r>
            <a:r>
              <a:rPr lang="zh-CN" altLang="en-US"/>
              <a:t>进行</a:t>
            </a:r>
            <a:r>
              <a:rPr lang="en-US" altLang="zh-CN"/>
              <a:t>RNA-seq</a:t>
            </a:r>
            <a:r>
              <a:rPr lang="zh-CN" altLang="en-US"/>
              <a:t>。火山图显示，</a:t>
            </a:r>
            <a:r>
              <a:rPr lang="en-US" altLang="zh-CN"/>
              <a:t>Fabp5 cKO</a:t>
            </a:r>
            <a:r>
              <a:rPr lang="zh-CN" altLang="en-US"/>
              <a:t>组</a:t>
            </a:r>
            <a:r>
              <a:rPr lang="en-US" altLang="zh-CN"/>
              <a:t> TAM</a:t>
            </a:r>
            <a:r>
              <a:rPr lang="zh-CN" altLang="en-US"/>
              <a:t>中</a:t>
            </a:r>
            <a:r>
              <a:rPr lang="en-US" altLang="zh-CN"/>
              <a:t>Cxcl9</a:t>
            </a:r>
            <a:r>
              <a:rPr lang="zh-CN" altLang="en-US"/>
              <a:t>显著上调。单细胞分析也证实</a:t>
            </a:r>
            <a:r>
              <a:rPr lang="en-US" altLang="zh-CN"/>
              <a:t>Cxcl9</a:t>
            </a:r>
            <a:r>
              <a:rPr lang="zh-CN" altLang="en-US"/>
              <a:t>在</a:t>
            </a:r>
            <a:r>
              <a:rPr lang="en-US" altLang="zh-CN"/>
              <a:t>Fabp5 cKO TAM</a:t>
            </a:r>
            <a:r>
              <a:rPr lang="zh-CN" altLang="en-US"/>
              <a:t>亚群中表达升高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随后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我们又通过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qPCR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el</a:t>
            </a:r>
            <a:r>
              <a:rPr lang="en-US" altLang="zh-CN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实验验证这一变化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结果发现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全身敲除及髓系特异性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条件敲除的肿瘤组织</a:t>
            </a:r>
            <a:r>
              <a:rPr lang="zh-CN" altLang="en-US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Cxcl9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mRNA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CXCL9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蛋白水平均显著升高，体外细胞实验进一步验证，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B16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肿瘤上清刺激可诱导巨噬细胞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Cxcl9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表达上调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单细胞测序同时发现</a:t>
            </a:r>
            <a:r>
              <a:rPr lang="en-US" altLang="zh-CN">
                <a:sym typeface="+mn-ea"/>
              </a:rPr>
              <a:t>cxcl9</a:t>
            </a:r>
            <a:r>
              <a:rPr lang="zh-CN" altLang="en-US">
                <a:sym typeface="+mn-ea"/>
              </a:rPr>
              <a:t>受体</a:t>
            </a:r>
            <a:r>
              <a:rPr lang="en-US" altLang="zh-CN">
                <a:sym typeface="+mn-ea"/>
              </a:rPr>
              <a:t>Cxcr3</a:t>
            </a:r>
            <a:r>
              <a:rPr lang="zh-CN" altLang="en-US">
                <a:sym typeface="+mn-ea"/>
              </a:rPr>
              <a:t>主要</a:t>
            </a:r>
            <a:r>
              <a:rPr lang="zh-CN" altLang="en-US">
                <a:sym typeface="+mn-ea"/>
              </a:rPr>
              <a:t>特异性高表达于</a:t>
            </a:r>
            <a:r>
              <a:rPr lang="en-US" altLang="zh-CN">
                <a:sym typeface="+mn-ea"/>
              </a:rPr>
              <a:t>CD8</a:t>
            </a:r>
            <a:r>
              <a:rPr lang="en-US" altLang="en-US">
                <a:sym typeface="+mn-ea"/>
              </a:rPr>
              <a:t>⁺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细胞。</a:t>
            </a:r>
            <a:endParaRPr lang="zh-CN" altLang="en-US"/>
          </a:p>
          <a:p>
            <a:r>
              <a:rPr lang="zh-CN" altLang="en-US"/>
              <a:t>基于此</a:t>
            </a:r>
            <a:r>
              <a:rPr lang="en-US" altLang="zh-CN"/>
              <a:t>，</a:t>
            </a:r>
            <a:r>
              <a:rPr lang="zh-CN" altLang="en-US"/>
              <a:t>我们提出</a:t>
            </a:r>
            <a:r>
              <a:rPr lang="en-US" altLang="zh-CN"/>
              <a:t>“FABP5–CXCL9–CXCR3–CD8</a:t>
            </a:r>
            <a:r>
              <a:rPr lang="en-US" altLang="en-US"/>
              <a:t>⁺</a:t>
            </a:r>
            <a:r>
              <a:rPr lang="en-US" altLang="zh-CN"/>
              <a:t>T”</a:t>
            </a:r>
            <a:r>
              <a:rPr lang="zh-CN" altLang="en-US"/>
              <a:t>候选调控轴：</a:t>
            </a:r>
            <a:r>
              <a:rPr lang="en-US" altLang="zh-CN"/>
              <a:t>FABP5</a:t>
            </a:r>
            <a:r>
              <a:rPr lang="zh-CN" altLang="en-US"/>
              <a:t>缺失上调</a:t>
            </a:r>
            <a:r>
              <a:rPr lang="en-US" altLang="zh-CN"/>
              <a:t>TAM</a:t>
            </a:r>
            <a:r>
              <a:rPr lang="zh-CN" altLang="en-US"/>
              <a:t>来源</a:t>
            </a:r>
            <a:r>
              <a:rPr lang="en-US" altLang="zh-CN"/>
              <a:t>CXCL9</a:t>
            </a:r>
            <a:r>
              <a:rPr lang="zh-CN" altLang="en-US"/>
              <a:t>，</a:t>
            </a:r>
            <a:r>
              <a:rPr lang="en-US" altLang="zh-CN"/>
              <a:t>CXCL9</a:t>
            </a:r>
            <a:r>
              <a:rPr lang="zh-CN" altLang="en-US"/>
              <a:t>通过</a:t>
            </a:r>
            <a:r>
              <a:rPr lang="en-US" altLang="zh-CN"/>
              <a:t>CXCR3</a:t>
            </a:r>
            <a:r>
              <a:rPr lang="zh-CN" altLang="en-US"/>
              <a:t>招募并活化</a:t>
            </a:r>
            <a:r>
              <a:rPr lang="en-US" altLang="zh-CN"/>
              <a:t>CD8</a:t>
            </a:r>
            <a:r>
              <a:rPr lang="en-US" altLang="en-US"/>
              <a:t>⁺</a:t>
            </a:r>
            <a:r>
              <a:rPr lang="en-US" altLang="zh-CN"/>
              <a:t>T</a:t>
            </a:r>
            <a:r>
              <a:rPr lang="zh-CN" altLang="en-US"/>
              <a:t>细胞，从而抑制黑色素瘤生长。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本研究目前还有两个主要局限。</a:t>
            </a:r>
            <a:endParaRPr lang="zh-CN" altLang="en-US"/>
          </a:p>
          <a:p>
            <a:r>
              <a:rPr lang="zh-CN" altLang="en-US"/>
              <a:t>一是</a:t>
            </a:r>
            <a:r>
              <a:rPr lang="en-US" altLang="zh-CN"/>
              <a:t>FABP5</a:t>
            </a:r>
            <a:r>
              <a:rPr lang="zh-CN" altLang="en-US"/>
              <a:t>作为脂质代谢关键分子，它如何通过代谢改变进一步调控</a:t>
            </a:r>
            <a:r>
              <a:rPr lang="en-US" altLang="zh-CN"/>
              <a:t>CXCL9</a:t>
            </a:r>
            <a:r>
              <a:rPr lang="zh-CN" altLang="en-US"/>
              <a:t>转录还没有阐明；我们推测</a:t>
            </a:r>
            <a:r>
              <a:rPr lang="en-US" altLang="zh-CN"/>
              <a:t>FABP5</a:t>
            </a:r>
            <a:r>
              <a:rPr lang="zh-CN" altLang="en-US"/>
              <a:t>缺失可能通过改变巨噬细胞内脂质代谢产物，进而影响</a:t>
            </a:r>
            <a:r>
              <a:rPr lang="en-US" altLang="zh-CN"/>
              <a:t>NF-κB</a:t>
            </a:r>
            <a:r>
              <a:rPr lang="zh-CN" altLang="en-US"/>
              <a:t>等转录因子的活性。后续将补充</a:t>
            </a:r>
            <a:r>
              <a:rPr lang="en-US" altLang="zh-CN"/>
              <a:t>BODIPY</a:t>
            </a:r>
            <a:r>
              <a:rPr lang="zh-CN" altLang="en-US"/>
              <a:t>脂滴染色、</a:t>
            </a:r>
            <a:r>
              <a:rPr lang="en-US" altLang="zh-CN"/>
              <a:t>Seahorse</a:t>
            </a:r>
            <a:r>
              <a:rPr lang="zh-CN" altLang="en-US"/>
              <a:t>代谢分析以及转录调控实验进一步</a:t>
            </a:r>
            <a:r>
              <a:rPr lang="zh-CN" altLang="en-US"/>
              <a:t>探究。</a:t>
            </a:r>
            <a:endParaRPr lang="zh-CN" altLang="en-US"/>
          </a:p>
          <a:p>
            <a:r>
              <a:rPr lang="zh-CN" altLang="en-US"/>
              <a:t>二是</a:t>
            </a:r>
            <a:r>
              <a:rPr lang="en-US" altLang="zh-CN"/>
              <a:t>CXCL9</a:t>
            </a:r>
            <a:r>
              <a:rPr lang="zh-CN" altLang="en-US"/>
              <a:t>与其受体</a:t>
            </a:r>
            <a:r>
              <a:rPr lang="en-US" altLang="zh-CN"/>
              <a:t>CXCR3</a:t>
            </a:r>
            <a:r>
              <a:rPr lang="zh-CN" altLang="en-US"/>
              <a:t>的配对互作虽是趋化因子网络中已被广泛证实的经典机制</a:t>
            </a:r>
            <a:r>
              <a:rPr lang="en-US" altLang="zh-CN"/>
              <a:t>，</a:t>
            </a:r>
            <a:r>
              <a:rPr lang="zh-CN" altLang="en-US"/>
              <a:t>但</a:t>
            </a:r>
            <a:r>
              <a:rPr lang="en-US" altLang="zh-CN"/>
              <a:t>CXCL9–CXCR3</a:t>
            </a:r>
            <a:r>
              <a:rPr lang="zh-CN" altLang="en-US"/>
              <a:t>目前仍是候选轴，尚缺乏</a:t>
            </a:r>
            <a:r>
              <a:rPr lang="en-US" altLang="zh-CN">
                <a:sym typeface="+mn-ea"/>
              </a:rPr>
              <a:t>CXCL9</a:t>
            </a:r>
            <a:r>
              <a:rPr lang="zh-CN" altLang="en-US">
                <a:sym typeface="+mn-ea"/>
              </a:rPr>
              <a:t>中和抗体的体内和体外功能验证</a:t>
            </a:r>
            <a:endParaRPr lang="zh-CN" altLang="en-US"/>
          </a:p>
          <a:p>
            <a:r>
              <a:rPr lang="zh-CN" altLang="en-US"/>
              <a:t>，下一步需要通过功能阻断最终确认这一信号轴的必要性。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4E73E-5D56-4103-8E9C-0D699937BB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EDBA9-A886-40BD-B9CC-8CAAC49E4B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4.jpe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2.png"/><Relationship Id="rId11" Type="http://schemas.openxmlformats.org/officeDocument/2006/relationships/image" Target="../media/image5.png"/><Relationship Id="rId10" Type="http://schemas.openxmlformats.org/officeDocument/2006/relationships/tags" Target="../tags/tag8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9.jpe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image" Target="../media/image11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3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emf"/><Relationship Id="rId8" Type="http://schemas.openxmlformats.org/officeDocument/2006/relationships/oleObject" Target="../embeddings/oleObject2.bin"/><Relationship Id="rId7" Type="http://schemas.openxmlformats.org/officeDocument/2006/relationships/image" Target="../media/image20.emf"/><Relationship Id="rId6" Type="http://schemas.openxmlformats.org/officeDocument/2006/relationships/oleObject" Target="../embeddings/oleObject1.bin"/><Relationship Id="rId5" Type="http://schemas.openxmlformats.org/officeDocument/2006/relationships/image" Target="../media/image19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6" Type="http://schemas.openxmlformats.org/officeDocument/2006/relationships/notesSlide" Target="../notesSlides/notesSlide10.xml"/><Relationship Id="rId15" Type="http://schemas.openxmlformats.org/officeDocument/2006/relationships/vmlDrawing" Target="../drawings/vmlDrawing1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3.emf"/><Relationship Id="rId12" Type="http://schemas.openxmlformats.org/officeDocument/2006/relationships/oleObject" Target="../embeddings/oleObject4.bin"/><Relationship Id="rId11" Type="http://schemas.openxmlformats.org/officeDocument/2006/relationships/image" Target="../media/image22.emf"/><Relationship Id="rId10" Type="http://schemas.openxmlformats.org/officeDocument/2006/relationships/oleObject" Target="../embeddings/oleObject3.bin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8.tiff"/><Relationship Id="rId5" Type="http://schemas.openxmlformats.org/officeDocument/2006/relationships/image" Target="../media/image27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image" Target="../media/image11.png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2" Type="http://schemas.openxmlformats.org/officeDocument/2006/relationships/notesSlide" Target="../notesSlides/notesSlide15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34.xml"/><Relationship Id="rId2" Type="http://schemas.microsoft.com/office/2007/relationships/hdphoto" Target="../media/image8.wdp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tiff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7063" y="387646"/>
            <a:ext cx="1528074" cy="1528074"/>
          </a:xfrm>
          <a:prstGeom prst="ellipse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4040965" y="4691281"/>
            <a:ext cx="4683398" cy="0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0">
                  <a:srgbClr val="961318"/>
                </a:gs>
                <a:gs pos="60000">
                  <a:srgbClr val="961318">
                    <a:alpha val="40000"/>
                  </a:srgbClr>
                </a:gs>
                <a:gs pos="92000">
                  <a:srgbClr val="961318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</p:cxnSp>
      <p:grpSp>
        <p:nvGrpSpPr>
          <p:cNvPr id="6" name="组合 5"/>
          <p:cNvGrpSpPr/>
          <p:nvPr/>
        </p:nvGrpSpPr>
        <p:grpSpPr>
          <a:xfrm>
            <a:off x="1821815" y="5859780"/>
            <a:ext cx="2508250" cy="625475"/>
            <a:chOff x="1767755" y="5835880"/>
            <a:chExt cx="2273210" cy="463012"/>
          </a:xfrm>
        </p:grpSpPr>
        <p:sp>
          <p:nvSpPr>
            <p:cNvPr id="7" name="矩形: 圆角 6"/>
            <p:cNvSpPr/>
            <p:nvPr/>
          </p:nvSpPr>
          <p:spPr>
            <a:xfrm>
              <a:off x="1767755" y="5835880"/>
              <a:ext cx="2273210" cy="463012"/>
            </a:xfrm>
            <a:prstGeom prst="roundRect">
              <a:avLst>
                <a:gd name="adj" fmla="val 22153"/>
              </a:avLst>
            </a:prstGeom>
            <a:solidFill>
              <a:srgbClr val="96131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cs typeface="+mn-cs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824140" y="5931068"/>
              <a:ext cx="2160442" cy="2726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汇报人：余叶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761865" y="5859780"/>
            <a:ext cx="2815590" cy="625475"/>
            <a:chOff x="4873792" y="5835880"/>
            <a:chExt cx="2053147" cy="463012"/>
          </a:xfrm>
        </p:grpSpPr>
        <p:sp>
          <p:nvSpPr>
            <p:cNvPr id="10" name="矩形: 圆角 9"/>
            <p:cNvSpPr/>
            <p:nvPr/>
          </p:nvSpPr>
          <p:spPr>
            <a:xfrm>
              <a:off x="4985965" y="5835880"/>
              <a:ext cx="1828800" cy="463012"/>
            </a:xfrm>
            <a:prstGeom prst="roundRect">
              <a:avLst>
                <a:gd name="adj" fmla="val 22153"/>
              </a:avLst>
            </a:prstGeom>
            <a:solidFill>
              <a:srgbClr val="96131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873792" y="5931068"/>
              <a:ext cx="2053147" cy="2726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指导教师：林玉丽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034020" y="5859780"/>
            <a:ext cx="2815590" cy="625475"/>
            <a:chOff x="8333639" y="5835880"/>
            <a:chExt cx="2552076" cy="463012"/>
          </a:xfrm>
        </p:grpSpPr>
        <p:sp>
          <p:nvSpPr>
            <p:cNvPr id="14" name="矩形: 圆角 13"/>
            <p:cNvSpPr/>
            <p:nvPr/>
          </p:nvSpPr>
          <p:spPr>
            <a:xfrm>
              <a:off x="8473071" y="5835880"/>
              <a:ext cx="2273210" cy="463012"/>
            </a:xfrm>
            <a:prstGeom prst="roundRect">
              <a:avLst>
                <a:gd name="adj" fmla="val 22153"/>
              </a:avLst>
            </a:prstGeom>
            <a:solidFill>
              <a:srgbClr val="96131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333639" y="5931068"/>
              <a:ext cx="2552076" cy="2726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日期：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 Regular" panose="02020503050405090304" charset="0"/>
                  <a:cs typeface="Times New Roman Regular" panose="02020503050405090304" charset="0"/>
                </a:rPr>
                <a:t>2026-10-20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639445" y="2283460"/>
            <a:ext cx="1105979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en-US" altLang="zh-CN" sz="4000" b="1" dirty="0">
                <a:solidFill>
                  <a:srgbClr val="961318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FABP5</a:t>
            </a:r>
            <a:r>
              <a:rPr lang="en-US" altLang="zh-CN" sz="4000" b="1" dirty="0">
                <a:solidFill>
                  <a:srgbClr val="961318"/>
                </a:solidFill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 </a:t>
            </a:r>
            <a:r>
              <a:rPr lang="zh-CN" altLang="en-US" sz="4000" b="1" dirty="0">
                <a:solidFill>
                  <a:srgbClr val="961318"/>
                </a:solidFill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在</a:t>
            </a:r>
            <a:r>
              <a:rPr lang="zh-CN" altLang="en-US" sz="4000" b="1" dirty="0">
                <a:solidFill>
                  <a:srgbClr val="961318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肿瘤相关巨噬细胞中调控</a:t>
            </a:r>
            <a:r>
              <a:rPr lang="en-US" altLang="zh-CN" sz="4000" b="1" dirty="0">
                <a:solidFill>
                  <a:srgbClr val="961318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lang="en-US" altLang="zh-CN" sz="4000" b="1" dirty="0">
                <a:solidFill>
                  <a:srgbClr val="961318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CXCL9</a:t>
            </a:r>
            <a:r>
              <a:rPr lang="en-US" altLang="zh-CN" sz="4000" dirty="0">
                <a:solidFill>
                  <a:srgbClr val="961318"/>
                </a:solidFill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 </a:t>
            </a:r>
            <a:r>
              <a:rPr lang="zh-CN" altLang="en-US" sz="4000" b="1" dirty="0">
                <a:solidFill>
                  <a:srgbClr val="961318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表达</a:t>
            </a:r>
            <a:r>
              <a:rPr lang="zh-CN" altLang="en-US" sz="4000" b="1" dirty="0">
                <a:solidFill>
                  <a:srgbClr val="961318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并影响</a:t>
            </a:r>
            <a:r>
              <a:rPr lang="en-US" altLang="zh-CN" sz="4000" b="1" dirty="0">
                <a:solidFill>
                  <a:srgbClr val="961318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lang="en-US" altLang="zh-CN" sz="4000" b="1" dirty="0">
                <a:solidFill>
                  <a:srgbClr val="961318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CD8</a:t>
            </a:r>
            <a:r>
              <a:rPr lang="en-US" altLang="en-US" sz="4000" b="1" dirty="0">
                <a:solidFill>
                  <a:srgbClr val="961318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⁺</a:t>
            </a:r>
            <a:r>
              <a:rPr lang="en-US" altLang="zh-CN" sz="4000" b="1" dirty="0">
                <a:solidFill>
                  <a:srgbClr val="961318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 </a:t>
            </a:r>
            <a:r>
              <a:rPr lang="zh-CN" altLang="en-US" sz="4000" b="1" dirty="0">
                <a:solidFill>
                  <a:srgbClr val="961318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细胞抗黑色素瘤免疫的机制研究</a:t>
            </a:r>
            <a:endParaRPr lang="zh-CN" altLang="en-US" sz="4000" b="1" dirty="0">
              <a:solidFill>
                <a:srgbClr val="961318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indent="0" algn="l" fontAlgn="auto">
              <a:lnSpc>
                <a:spcPct val="150000"/>
              </a:lnSpc>
              <a:defRPr/>
            </a:pPr>
            <a:endParaRPr lang="zh-CN" altLang="en-US" sz="4000" b="1" dirty="0">
              <a:solidFill>
                <a:srgbClr val="961318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395079" cy="687995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5395079" cy="6879957"/>
          </a:xfrm>
          <a:prstGeom prst="rect">
            <a:avLst/>
          </a:prstGeom>
          <a:gradFill flip="none" rotWithShape="1">
            <a:gsLst>
              <a:gs pos="0">
                <a:srgbClr val="961318">
                  <a:alpha val="70000"/>
                </a:srgbClr>
              </a:gs>
              <a:gs pos="100000">
                <a:srgbClr val="961318">
                  <a:alpha val="9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Arial" panose="020B0604020202090204"/>
              <a:ea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47797" y="2197100"/>
            <a:ext cx="2603500" cy="1790700"/>
            <a:chOff x="1778000" y="2197100"/>
            <a:chExt cx="2603500" cy="1790700"/>
          </a:xfrm>
        </p:grpSpPr>
        <p:sp>
          <p:nvSpPr>
            <p:cNvPr id="5" name="文本框 4"/>
            <p:cNvSpPr txBox="1"/>
            <p:nvPr/>
          </p:nvSpPr>
          <p:spPr>
            <a:xfrm>
              <a:off x="2090118" y="2413337"/>
              <a:ext cx="19872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目录</a:t>
              </a:r>
              <a:endPara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147888" y="3429000"/>
              <a:ext cx="18716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</a:rPr>
                <a:t>CONTENTS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778000" y="2197100"/>
              <a:ext cx="2603500" cy="1790700"/>
            </a:xfrm>
            <a:prstGeom prst="rect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6544305" y="1678194"/>
            <a:ext cx="648000" cy="646331"/>
          </a:xfrm>
          <a:prstGeom prst="ellipse">
            <a:avLst/>
          </a:prstGeom>
          <a:solidFill>
            <a:srgbClr val="96131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01</a:t>
            </a:r>
            <a:endParaRPr lang="zh-CN" altLang="en-US" b="1" kern="0" dirty="0">
              <a:solidFill>
                <a:prstClr val="white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4"/>
            </p:custDataLst>
          </p:nvPr>
        </p:nvSpPr>
        <p:spPr>
          <a:xfrm>
            <a:off x="6544306" y="2638048"/>
            <a:ext cx="648000" cy="646331"/>
          </a:xfrm>
          <a:prstGeom prst="ellipse">
            <a:avLst/>
          </a:prstGeom>
          <a:solidFill>
            <a:srgbClr val="96131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02</a:t>
            </a:r>
            <a:endParaRPr lang="zh-CN" altLang="en-US" b="1" kern="0" dirty="0">
              <a:solidFill>
                <a:prstClr val="white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7502159" y="1771273"/>
            <a:ext cx="341837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spc="400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研究背景</a:t>
            </a:r>
            <a:endParaRPr lang="zh-CN" altLang="en-US" sz="3200" spc="400" dirty="0">
              <a:solidFill>
                <a:srgbClr val="961318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6544306" y="3597902"/>
            <a:ext cx="648000" cy="646331"/>
          </a:xfrm>
          <a:prstGeom prst="ellipse">
            <a:avLst/>
          </a:prstGeom>
          <a:solidFill>
            <a:srgbClr val="96131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03</a:t>
            </a:r>
            <a:endParaRPr lang="zh-CN" altLang="en-US" b="1" kern="0" dirty="0">
              <a:solidFill>
                <a:prstClr val="white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7502159" y="2731127"/>
            <a:ext cx="36738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spc="400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研究目的与</a:t>
            </a:r>
            <a:r>
              <a:rPr lang="zh-CN" altLang="en-US" sz="3200" spc="400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思路</a:t>
            </a:r>
            <a:endParaRPr lang="zh-CN" altLang="en-US" sz="3200" spc="400" dirty="0">
              <a:solidFill>
                <a:srgbClr val="961318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4" name="椭圆 13"/>
          <p:cNvSpPr/>
          <p:nvPr>
            <p:custDataLst>
              <p:tags r:id="rId8"/>
            </p:custDataLst>
          </p:nvPr>
        </p:nvSpPr>
        <p:spPr>
          <a:xfrm>
            <a:off x="6544306" y="4557756"/>
            <a:ext cx="648000" cy="646331"/>
          </a:xfrm>
          <a:prstGeom prst="ellipse">
            <a:avLst/>
          </a:prstGeom>
          <a:solidFill>
            <a:srgbClr val="96131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04</a:t>
            </a:r>
            <a:endParaRPr lang="zh-CN" altLang="en-US" b="1" kern="0" dirty="0">
              <a:solidFill>
                <a:prstClr val="white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7502159" y="3690981"/>
            <a:ext cx="36738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spc="400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关键成果</a:t>
            </a:r>
            <a:endParaRPr lang="zh-CN" altLang="en-US" sz="3200" spc="400" dirty="0">
              <a:solidFill>
                <a:srgbClr val="961318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7502159" y="4650835"/>
            <a:ext cx="36738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spc="400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总结与</a:t>
            </a:r>
            <a:r>
              <a:rPr lang="zh-CN" altLang="en-US" sz="3200" spc="400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展望</a:t>
            </a:r>
            <a:endParaRPr lang="zh-CN" altLang="en-US" sz="3200" spc="400" dirty="0">
              <a:solidFill>
                <a:srgbClr val="961318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07649" y="6429241"/>
            <a:ext cx="2690620" cy="358344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9938289" y="115465"/>
            <a:ext cx="1964493" cy="708062"/>
            <a:chOff x="4246274" y="-10895"/>
            <a:chExt cx="3940182" cy="1420161"/>
          </a:xfrm>
        </p:grpSpPr>
        <p:grpSp>
          <p:nvGrpSpPr>
            <p:cNvPr id="27" name="组合 26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29" name="图片 28"/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28" name="矩形 27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Calibri" panose="020F0502020204030204"/>
                  <a:ea typeface="宋体" pitchFamily="2" charset="-122"/>
                </a:rPr>
                <a:t>FUDAN UNIVERSITY</a:t>
              </a:r>
              <a:endParaRPr lang="en-US" altLang="zh-CN" sz="1000" b="1" dirty="0">
                <a:solidFill>
                  <a:prstClr val="black"/>
                </a:solidFill>
                <a:latin typeface="Calibri" panose="020F0502020204030204"/>
                <a:ea typeface="宋体" pitchFamily="2" charset="-122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7378700" y="5473065"/>
            <a:ext cx="6583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2000" b="1" i="1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Mol Cancer</a:t>
            </a:r>
            <a:r>
              <a:rPr lang="en-US" altLang="zh-CN" sz="2000" b="1" i="1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.</a:t>
            </a:r>
            <a:r>
              <a:rPr lang="en-US" altLang="zh-CN" sz="20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2025</a:t>
            </a:r>
            <a:r>
              <a:rPr lang="en-US" altLang="zh-CN" sz="20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endParaRPr lang="en-US" altLang="zh-CN" sz="200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5325" y="1283970"/>
            <a:ext cx="3985260" cy="4974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endParaRPr lang="zh-CN" altLang="en-US" sz="2400" b="1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皮肤癌中最危险类型，靶向与免疫治疗有效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，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但耐药问题突出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，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约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50%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的患者在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1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年内、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80%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的患者在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5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年内会产生获得性耐药</a:t>
            </a:r>
            <a:r>
              <a:rPr lang="en-US" altLang="zh-CN" sz="2000" baseline="30000">
                <a:latin typeface="宋体" pitchFamily="2" charset="-122"/>
                <a:ea typeface="宋体" pitchFamily="2" charset="-122"/>
                <a:cs typeface="宋体" pitchFamily="2" charset="-122"/>
              </a:rPr>
              <a:t>[1]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。</a:t>
            </a:r>
            <a:endParaRPr lang="en-US" altLang="zh-CN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  </a:t>
            </a: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肿瘤微环境最丰富免疫细胞之一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，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参与黑色素瘤免疫逃逸及治疗抵抗</a:t>
            </a:r>
            <a:r>
              <a:rPr lang="en-US" altLang="zh-CN" sz="2000" baseline="30000">
                <a:latin typeface="宋体" pitchFamily="2" charset="-122"/>
                <a:ea typeface="宋体" pitchFamily="2" charset="-122"/>
                <a:cs typeface="宋体" pitchFamily="2" charset="-122"/>
              </a:rPr>
              <a:t>[2]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。</a:t>
            </a: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11" name="矩形 10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15" name="文本框 14"/>
              <p:cNvSpPr txBox="1"/>
              <p:nvPr/>
            </p:nvSpPr>
            <p:spPr>
              <a:xfrm>
                <a:off x="623392" y="310880"/>
                <a:ext cx="161290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研究背景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endParaRPr>
              </a:p>
            </p:txBody>
          </p:sp>
          <p:cxnSp>
            <p:nvCxnSpPr>
              <p:cNvPr id="16" name="直接连接符 15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5" name="矩形 4"/>
          <p:cNvSpPr/>
          <p:nvPr/>
        </p:nvSpPr>
        <p:spPr>
          <a:xfrm>
            <a:off x="824230" y="1165225"/>
            <a:ext cx="3441700" cy="3987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01 </a:t>
            </a:r>
            <a:r>
              <a:rPr lang="zh-CN" altLang="en-US" sz="2000" b="1" kern="0" dirty="0">
                <a:solidFill>
                  <a:schemeClr val="bg1"/>
                </a:solidFill>
                <a:latin typeface="宋体" charset="0"/>
                <a:ea typeface="宋体" charset="0"/>
                <a:cs typeface="宋体" charset="0"/>
              </a:rPr>
              <a:t>黑色素瘤</a:t>
            </a:r>
            <a:endParaRPr lang="zh-CN" altLang="en-US" sz="2000" b="1" kern="0" dirty="0">
              <a:solidFill>
                <a:schemeClr val="bg1"/>
              </a:soli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4230" y="3792855"/>
            <a:ext cx="3441700" cy="42926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noAutofit/>
          </a:bodyPr>
          <a:lstStyle/>
          <a:p>
            <a:pPr lvl="0" algn="ctr"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02 </a:t>
            </a:r>
            <a:r>
              <a:rPr lang="zh-CN" altLang="en-US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肿瘤相关</a:t>
            </a:r>
            <a:r>
              <a:rPr lang="zh-CN" altLang="en-US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巨噬细胞</a:t>
            </a:r>
            <a:endParaRPr lang="zh-CN" altLang="en-US" sz="2000" b="1" kern="0" dirty="0">
              <a:solidFill>
                <a:schemeClr val="bg1"/>
              </a:solidFill>
              <a:latin typeface="Times New Roman Bold" panose="02020503050405090304" charset="0"/>
              <a:ea typeface="宋体" charset="0"/>
              <a:cs typeface="Times New Roman Bold" panose="02020503050405090304" charset="0"/>
            </a:endParaRPr>
          </a:p>
        </p:txBody>
      </p:sp>
      <p:pic>
        <p:nvPicPr>
          <p:cNvPr id="6" name="图片 5" descr="12943_2025_2481_Fig1_HTML"/>
          <p:cNvPicPr>
            <a:picLocks noChangeAspect="1"/>
          </p:cNvPicPr>
          <p:nvPr/>
        </p:nvPicPr>
        <p:blipFill>
          <a:blip r:embed="rId5"/>
          <a:srcRect t="50168"/>
          <a:stretch>
            <a:fillRect/>
          </a:stretch>
        </p:blipFill>
        <p:spPr>
          <a:xfrm>
            <a:off x="4906645" y="1441450"/>
            <a:ext cx="6764020" cy="36175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0" y="6285865"/>
            <a:ext cx="12193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[1]Robertson BM, Fane ME, Weeraratna AT, Rebecca VW. Determinants of resistance and response to melanoma therapy. Nat Cancer. 2024;5(7):964-982.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[2]Neubert NJ, Schmittnaegel M, Bordry N, et al. T cell-induced CSF1 promotes melanoma resistance to PD1 blockade. Sci Transl Med. 2018;10(436):eaan3311.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7052945" y="5074285"/>
            <a:ext cx="6583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2000" b="1" i="1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Journal of Hepatology</a:t>
            </a:r>
            <a:r>
              <a:rPr lang="en-US" altLang="zh-CN" sz="2000" b="1" i="1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.</a:t>
            </a:r>
            <a:r>
              <a:rPr lang="en-US" altLang="zh-CN" sz="20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2025</a:t>
            </a:r>
            <a:r>
              <a:rPr lang="en-US" altLang="zh-CN" sz="20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endParaRPr lang="en-US" altLang="zh-CN" sz="200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5325" y="1308100"/>
            <a:ext cx="3985260" cy="4974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endParaRPr lang="zh-CN" altLang="en-US" sz="2400" b="1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肿瘤微环境脂质丰富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，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脂质代谢重编程维持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TAM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免疫抑制表型</a:t>
            </a:r>
            <a:r>
              <a:rPr lang="en-US" altLang="zh-CN" sz="2000" baseline="30000">
                <a:latin typeface="宋体" pitchFamily="2" charset="-122"/>
                <a:ea typeface="宋体" pitchFamily="2" charset="-122"/>
                <a:cs typeface="宋体" pitchFamily="2" charset="-122"/>
              </a:rPr>
              <a:t>[3]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。</a:t>
            </a: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脂肪酸结合蛋白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5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是长链脂肪酸胞内运输和信号转导关键分子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，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已在</a:t>
            </a:r>
            <a:r>
              <a:rPr lang="en-US" altLang="zh-CN" sz="20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HCC</a:t>
            </a:r>
            <a:r>
              <a:rPr lang="zh-CN" altLang="en-US" sz="20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中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显示出调节</a:t>
            </a:r>
            <a:r>
              <a:rPr lang="en-US" altLang="zh-CN" sz="20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TAM</a:t>
            </a:r>
            <a:r>
              <a:rPr lang="zh-CN" altLang="en-US" sz="2000">
                <a:latin typeface="宋体" pitchFamily="2" charset="-122"/>
                <a:ea typeface="宋体" pitchFamily="2" charset="-122"/>
                <a:cs typeface="宋体" pitchFamily="2" charset="-122"/>
              </a:rPr>
              <a:t>免疫抑制功能作用</a:t>
            </a:r>
            <a:r>
              <a:rPr lang="en-US" altLang="zh-CN" sz="2000" baseline="30000">
                <a:latin typeface="宋体" pitchFamily="2" charset="-122"/>
                <a:ea typeface="宋体" pitchFamily="2" charset="-122"/>
                <a:cs typeface="宋体" pitchFamily="2" charset="-122"/>
              </a:rPr>
              <a:t>[4]</a:t>
            </a:r>
            <a:r>
              <a:rPr lang="en-US" altLang="zh-CN" sz="2000">
                <a:latin typeface="宋体" pitchFamily="2" charset="-122"/>
                <a:ea typeface="宋体" pitchFamily="2" charset="-122"/>
                <a:cs typeface="宋体" pitchFamily="2" charset="-122"/>
              </a:rPr>
              <a:t>，</a:t>
            </a:r>
            <a:r>
              <a:rPr lang="zh-CN" altLang="en-US" sz="200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但其在黑色素瘤中机制不明。</a:t>
            </a:r>
            <a:endParaRPr lang="zh-CN" altLang="en-US" sz="2000">
              <a:solidFill>
                <a:srgbClr val="FF0000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sz="2000"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11" name="矩形 10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15" name="文本框 14"/>
              <p:cNvSpPr txBox="1"/>
              <p:nvPr/>
            </p:nvSpPr>
            <p:spPr>
              <a:xfrm>
                <a:off x="623392" y="310880"/>
                <a:ext cx="161290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研究背景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endParaRPr>
              </a:p>
            </p:txBody>
          </p:sp>
          <p:cxnSp>
            <p:nvCxnSpPr>
              <p:cNvPr id="16" name="直接连接符 15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pic>
        <p:nvPicPr>
          <p:cNvPr id="3" name="图片 2" descr="ea39d012e6e5a5038cc6507f4133a75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095" y="1934210"/>
            <a:ext cx="7014210" cy="284924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24230" y="1165225"/>
            <a:ext cx="3441700" cy="39878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Times New Roman Bold" panose="02020503050405090304" charset="0"/>
                <a:ea typeface="宋体" charset="0"/>
                <a:cs typeface="Times New Roman Bold" panose="02020503050405090304" charset="0"/>
              </a:rPr>
              <a:t>03 </a:t>
            </a:r>
            <a:r>
              <a:rPr lang="zh-CN" altLang="en-US" sz="2000" b="1" kern="0" dirty="0">
                <a:solidFill>
                  <a:schemeClr val="bg1"/>
                </a:solidFill>
                <a:latin typeface="宋体" charset="0"/>
                <a:ea typeface="宋体" charset="0"/>
                <a:cs typeface="宋体" charset="0"/>
              </a:rPr>
              <a:t>脂质代谢</a:t>
            </a:r>
            <a:endParaRPr lang="zh-CN" altLang="en-US" sz="2000" b="1" kern="0" dirty="0">
              <a:solidFill>
                <a:schemeClr val="bg1"/>
              </a:soli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69950" y="3233420"/>
            <a:ext cx="3442335" cy="46037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noAutofit/>
          </a:bodyPr>
          <a:lstStyle/>
          <a:p>
            <a:pPr lvl="0" algn="ctr"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04  FABP5</a:t>
            </a:r>
            <a:endParaRPr lang="zh-CN" altLang="en-US" sz="2000" b="1" kern="0" dirty="0">
              <a:solidFill>
                <a:schemeClr val="bg1"/>
              </a:soli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6326505"/>
            <a:ext cx="12193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[3]ZHANG S, PENG W, WANG H, et al. C1q(+) tumor-associated macrophages contribute to immunosuppression through fatty [J]. Journal for immunotherapy of cancer, 2023,11(8).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[4]YANG X, DENG B, ZHAO W, et al. FABP5(+) lipid-loaded macrophages process tumour-derived unsaturated fatty acid [J]. Journal of hepatology, 2025,82(4): 676-689.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596" y="676618"/>
            <a:ext cx="6541996" cy="654199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777490" y="1046480"/>
            <a:ext cx="6264275" cy="965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44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sym typeface="+mn-ea"/>
              </a:rPr>
              <a:t>拟解决的科学问题</a:t>
            </a:r>
            <a:endParaRPr lang="zh-CN" sz="4400" b="1" dirty="0">
              <a:solidFill>
                <a:srgbClr val="C00000"/>
              </a:solidFill>
              <a:latin typeface="宋体" pitchFamily="2" charset="-122"/>
              <a:ea typeface="宋体" pitchFamily="2" charset="-122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731010" y="2118360"/>
            <a:ext cx="8802370" cy="3486785"/>
          </a:xfrm>
          <a:prstGeom prst="roundRect">
            <a:avLst>
              <a:gd name="adj" fmla="val 6791"/>
            </a:avLst>
          </a:prstGeom>
          <a:noFill/>
          <a:ln>
            <a:solidFill>
              <a:srgbClr val="C0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1496695" y="2522855"/>
            <a:ext cx="1247140" cy="53911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0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01</a:t>
            </a:r>
            <a:endParaRPr lang="zh-CN" altLang="en-US" sz="2000" dirty="0">
              <a:solidFill>
                <a:schemeClr val="bg1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lt"/>
            </a:endParaRPr>
          </a:p>
        </p:txBody>
      </p:sp>
      <p:grpSp>
        <p:nvGrpSpPr>
          <p:cNvPr id="15" name="组合 14"/>
          <p:cNvGrpSpPr/>
          <p:nvPr>
            <p:custDataLst>
              <p:tags r:id="rId7"/>
            </p:custDataLst>
          </p:nvPr>
        </p:nvGrpSpPr>
        <p:grpSpPr>
          <a:xfrm>
            <a:off x="2044700" y="2468880"/>
            <a:ext cx="728980" cy="727710"/>
            <a:chOff x="-1090613" y="612775"/>
            <a:chExt cx="5661244" cy="5268912"/>
          </a:xfrm>
          <a:solidFill>
            <a:srgbClr val="C00000"/>
          </a:solidFill>
        </p:grpSpPr>
        <p:sp>
          <p:nvSpPr>
            <p:cNvPr id="16" name="Freeform 124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-1090613" y="612775"/>
              <a:ext cx="5359400" cy="5268912"/>
            </a:xfrm>
            <a:custGeom>
              <a:avLst/>
              <a:gdLst>
                <a:gd name="T0" fmla="*/ 296 w 592"/>
                <a:gd name="T1" fmla="*/ 582 h 582"/>
                <a:gd name="T2" fmla="*/ 258 w 592"/>
                <a:gd name="T3" fmla="*/ 566 h 582"/>
                <a:gd name="T4" fmla="*/ 21 w 592"/>
                <a:gd name="T5" fmla="*/ 329 h 582"/>
                <a:gd name="T6" fmla="*/ 21 w 592"/>
                <a:gd name="T7" fmla="*/ 252 h 582"/>
                <a:gd name="T8" fmla="*/ 258 w 592"/>
                <a:gd name="T9" fmla="*/ 16 h 582"/>
                <a:gd name="T10" fmla="*/ 296 w 592"/>
                <a:gd name="T11" fmla="*/ 0 h 582"/>
                <a:gd name="T12" fmla="*/ 334 w 592"/>
                <a:gd name="T13" fmla="*/ 16 h 582"/>
                <a:gd name="T14" fmla="*/ 571 w 592"/>
                <a:gd name="T15" fmla="*/ 252 h 582"/>
                <a:gd name="T16" fmla="*/ 571 w 592"/>
                <a:gd name="T17" fmla="*/ 329 h 582"/>
                <a:gd name="T18" fmla="*/ 334 w 592"/>
                <a:gd name="T19" fmla="*/ 566 h 582"/>
                <a:gd name="T20" fmla="*/ 296 w 592"/>
                <a:gd name="T21" fmla="*/ 582 h 582"/>
                <a:gd name="T22" fmla="*/ 296 w 592"/>
                <a:gd name="T23" fmla="*/ 10 h 582"/>
                <a:gd name="T24" fmla="*/ 265 w 592"/>
                <a:gd name="T25" fmla="*/ 23 h 582"/>
                <a:gd name="T26" fmla="*/ 28 w 592"/>
                <a:gd name="T27" fmla="*/ 259 h 582"/>
                <a:gd name="T28" fmla="*/ 28 w 592"/>
                <a:gd name="T29" fmla="*/ 322 h 582"/>
                <a:gd name="T30" fmla="*/ 265 w 592"/>
                <a:gd name="T31" fmla="*/ 559 h 582"/>
                <a:gd name="T32" fmla="*/ 296 w 592"/>
                <a:gd name="T33" fmla="*/ 572 h 582"/>
                <a:gd name="T34" fmla="*/ 327 w 592"/>
                <a:gd name="T35" fmla="*/ 559 h 582"/>
                <a:gd name="T36" fmla="*/ 564 w 592"/>
                <a:gd name="T37" fmla="*/ 322 h 582"/>
                <a:gd name="T38" fmla="*/ 564 w 592"/>
                <a:gd name="T39" fmla="*/ 259 h 582"/>
                <a:gd name="T40" fmla="*/ 327 w 592"/>
                <a:gd name="T41" fmla="*/ 23 h 582"/>
                <a:gd name="T42" fmla="*/ 296 w 592"/>
                <a:gd name="T43" fmla="*/ 1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2" h="582">
                  <a:moveTo>
                    <a:pt x="296" y="582"/>
                  </a:moveTo>
                  <a:cubicBezTo>
                    <a:pt x="282" y="582"/>
                    <a:pt x="268" y="576"/>
                    <a:pt x="258" y="566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0" y="308"/>
                    <a:pt x="0" y="274"/>
                    <a:pt x="21" y="252"/>
                  </a:cubicBezTo>
                  <a:cubicBezTo>
                    <a:pt x="258" y="16"/>
                    <a:pt x="258" y="16"/>
                    <a:pt x="258" y="16"/>
                  </a:cubicBezTo>
                  <a:cubicBezTo>
                    <a:pt x="268" y="5"/>
                    <a:pt x="282" y="0"/>
                    <a:pt x="296" y="0"/>
                  </a:cubicBezTo>
                  <a:cubicBezTo>
                    <a:pt x="311" y="0"/>
                    <a:pt x="324" y="5"/>
                    <a:pt x="334" y="16"/>
                  </a:cubicBezTo>
                  <a:cubicBezTo>
                    <a:pt x="571" y="252"/>
                    <a:pt x="571" y="252"/>
                    <a:pt x="571" y="252"/>
                  </a:cubicBezTo>
                  <a:cubicBezTo>
                    <a:pt x="592" y="274"/>
                    <a:pt x="592" y="308"/>
                    <a:pt x="571" y="329"/>
                  </a:cubicBezTo>
                  <a:cubicBezTo>
                    <a:pt x="334" y="566"/>
                    <a:pt x="334" y="566"/>
                    <a:pt x="334" y="566"/>
                  </a:cubicBezTo>
                  <a:cubicBezTo>
                    <a:pt x="324" y="576"/>
                    <a:pt x="311" y="582"/>
                    <a:pt x="296" y="582"/>
                  </a:cubicBezTo>
                  <a:close/>
                  <a:moveTo>
                    <a:pt x="296" y="10"/>
                  </a:moveTo>
                  <a:cubicBezTo>
                    <a:pt x="284" y="10"/>
                    <a:pt x="273" y="14"/>
                    <a:pt x="265" y="23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11" y="277"/>
                    <a:pt x="11" y="305"/>
                    <a:pt x="28" y="322"/>
                  </a:cubicBezTo>
                  <a:cubicBezTo>
                    <a:pt x="265" y="559"/>
                    <a:pt x="265" y="559"/>
                    <a:pt x="265" y="559"/>
                  </a:cubicBezTo>
                  <a:cubicBezTo>
                    <a:pt x="273" y="567"/>
                    <a:pt x="284" y="572"/>
                    <a:pt x="296" y="572"/>
                  </a:cubicBezTo>
                  <a:cubicBezTo>
                    <a:pt x="308" y="572"/>
                    <a:pt x="319" y="567"/>
                    <a:pt x="327" y="559"/>
                  </a:cubicBezTo>
                  <a:cubicBezTo>
                    <a:pt x="564" y="322"/>
                    <a:pt x="564" y="322"/>
                    <a:pt x="564" y="322"/>
                  </a:cubicBezTo>
                  <a:cubicBezTo>
                    <a:pt x="581" y="305"/>
                    <a:pt x="581" y="277"/>
                    <a:pt x="564" y="259"/>
                  </a:cubicBezTo>
                  <a:cubicBezTo>
                    <a:pt x="327" y="23"/>
                    <a:pt x="327" y="23"/>
                    <a:pt x="327" y="23"/>
                  </a:cubicBezTo>
                  <a:cubicBezTo>
                    <a:pt x="319" y="14"/>
                    <a:pt x="308" y="10"/>
                    <a:pt x="296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17" name="Freeform 1234"/>
            <p:cNvSpPr/>
            <p:nvPr>
              <p:custDataLst>
                <p:tags r:id="rId9"/>
              </p:custDataLst>
            </p:nvPr>
          </p:nvSpPr>
          <p:spPr bwMode="auto">
            <a:xfrm>
              <a:off x="-439065" y="612775"/>
              <a:ext cx="5009696" cy="5017704"/>
            </a:xfrm>
            <a:custGeom>
              <a:avLst/>
              <a:gdLst>
                <a:gd name="T0" fmla="*/ 634 w 1132"/>
                <a:gd name="T1" fmla="*/ 1095 h 1133"/>
                <a:gd name="T2" fmla="*/ 498 w 1132"/>
                <a:gd name="T3" fmla="*/ 1095 h 1133"/>
                <a:gd name="T4" fmla="*/ 37 w 1132"/>
                <a:gd name="T5" fmla="*/ 634 h 1133"/>
                <a:gd name="T6" fmla="*/ 37 w 1132"/>
                <a:gd name="T7" fmla="*/ 499 h 1133"/>
                <a:gd name="T8" fmla="*/ 498 w 1132"/>
                <a:gd name="T9" fmla="*/ 38 h 1133"/>
                <a:gd name="T10" fmla="*/ 634 w 1132"/>
                <a:gd name="T11" fmla="*/ 38 h 1133"/>
                <a:gd name="T12" fmla="*/ 1095 w 1132"/>
                <a:gd name="T13" fmla="*/ 499 h 1133"/>
                <a:gd name="T14" fmla="*/ 1095 w 1132"/>
                <a:gd name="T15" fmla="*/ 634 h 1133"/>
                <a:gd name="T16" fmla="*/ 634 w 1132"/>
                <a:gd name="T17" fmla="*/ 1095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1133">
                  <a:moveTo>
                    <a:pt x="634" y="1095"/>
                  </a:moveTo>
                  <a:cubicBezTo>
                    <a:pt x="596" y="1133"/>
                    <a:pt x="536" y="1133"/>
                    <a:pt x="498" y="1095"/>
                  </a:cubicBezTo>
                  <a:cubicBezTo>
                    <a:pt x="37" y="634"/>
                    <a:pt x="37" y="634"/>
                    <a:pt x="37" y="634"/>
                  </a:cubicBezTo>
                  <a:cubicBezTo>
                    <a:pt x="0" y="597"/>
                    <a:pt x="0" y="536"/>
                    <a:pt x="37" y="499"/>
                  </a:cubicBezTo>
                  <a:cubicBezTo>
                    <a:pt x="498" y="38"/>
                    <a:pt x="498" y="38"/>
                    <a:pt x="498" y="38"/>
                  </a:cubicBezTo>
                  <a:cubicBezTo>
                    <a:pt x="536" y="0"/>
                    <a:pt x="596" y="0"/>
                    <a:pt x="634" y="38"/>
                  </a:cubicBezTo>
                  <a:cubicBezTo>
                    <a:pt x="1095" y="499"/>
                    <a:pt x="1095" y="499"/>
                    <a:pt x="1095" y="499"/>
                  </a:cubicBezTo>
                  <a:cubicBezTo>
                    <a:pt x="1132" y="536"/>
                    <a:pt x="1132" y="597"/>
                    <a:pt x="1095" y="634"/>
                  </a:cubicBezTo>
                  <a:lnTo>
                    <a:pt x="634" y="10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2262505" y="4138295"/>
            <a:ext cx="741045" cy="46863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1</a:t>
            </a:r>
            <a:endParaRPr lang="en-US" altLang="zh-CN" sz="2400" dirty="0">
              <a:solidFill>
                <a:schemeClr val="bg1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lt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933575" y="4194810"/>
            <a:ext cx="765175" cy="53911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0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01</a:t>
            </a:r>
            <a:endParaRPr lang="zh-CN" altLang="en-US" sz="2000" dirty="0">
              <a:solidFill>
                <a:schemeClr val="bg1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lt"/>
            </a:endParaRPr>
          </a:p>
        </p:txBody>
      </p:sp>
      <p:grpSp>
        <p:nvGrpSpPr>
          <p:cNvPr id="14" name="组合 13"/>
          <p:cNvGrpSpPr/>
          <p:nvPr>
            <p:custDataLst>
              <p:tags r:id="rId12"/>
            </p:custDataLst>
          </p:nvPr>
        </p:nvGrpSpPr>
        <p:grpSpPr>
          <a:xfrm>
            <a:off x="1999615" y="3957955"/>
            <a:ext cx="728980" cy="727710"/>
            <a:chOff x="-1090613" y="612775"/>
            <a:chExt cx="5661244" cy="5268912"/>
          </a:xfrm>
          <a:solidFill>
            <a:srgbClr val="C00000"/>
          </a:solidFill>
        </p:grpSpPr>
        <p:sp>
          <p:nvSpPr>
            <p:cNvPr id="19" name="Freeform 124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-1090613" y="612775"/>
              <a:ext cx="5359400" cy="5268912"/>
            </a:xfrm>
            <a:custGeom>
              <a:avLst/>
              <a:gdLst>
                <a:gd name="T0" fmla="*/ 296 w 592"/>
                <a:gd name="T1" fmla="*/ 582 h 582"/>
                <a:gd name="T2" fmla="*/ 258 w 592"/>
                <a:gd name="T3" fmla="*/ 566 h 582"/>
                <a:gd name="T4" fmla="*/ 21 w 592"/>
                <a:gd name="T5" fmla="*/ 329 h 582"/>
                <a:gd name="T6" fmla="*/ 21 w 592"/>
                <a:gd name="T7" fmla="*/ 252 h 582"/>
                <a:gd name="T8" fmla="*/ 258 w 592"/>
                <a:gd name="T9" fmla="*/ 16 h 582"/>
                <a:gd name="T10" fmla="*/ 296 w 592"/>
                <a:gd name="T11" fmla="*/ 0 h 582"/>
                <a:gd name="T12" fmla="*/ 334 w 592"/>
                <a:gd name="T13" fmla="*/ 16 h 582"/>
                <a:gd name="T14" fmla="*/ 571 w 592"/>
                <a:gd name="T15" fmla="*/ 252 h 582"/>
                <a:gd name="T16" fmla="*/ 571 w 592"/>
                <a:gd name="T17" fmla="*/ 329 h 582"/>
                <a:gd name="T18" fmla="*/ 334 w 592"/>
                <a:gd name="T19" fmla="*/ 566 h 582"/>
                <a:gd name="T20" fmla="*/ 296 w 592"/>
                <a:gd name="T21" fmla="*/ 582 h 582"/>
                <a:gd name="T22" fmla="*/ 296 w 592"/>
                <a:gd name="T23" fmla="*/ 10 h 582"/>
                <a:gd name="T24" fmla="*/ 265 w 592"/>
                <a:gd name="T25" fmla="*/ 23 h 582"/>
                <a:gd name="T26" fmla="*/ 28 w 592"/>
                <a:gd name="T27" fmla="*/ 259 h 582"/>
                <a:gd name="T28" fmla="*/ 28 w 592"/>
                <a:gd name="T29" fmla="*/ 322 h 582"/>
                <a:gd name="T30" fmla="*/ 265 w 592"/>
                <a:gd name="T31" fmla="*/ 559 h 582"/>
                <a:gd name="T32" fmla="*/ 296 w 592"/>
                <a:gd name="T33" fmla="*/ 572 h 582"/>
                <a:gd name="T34" fmla="*/ 327 w 592"/>
                <a:gd name="T35" fmla="*/ 559 h 582"/>
                <a:gd name="T36" fmla="*/ 564 w 592"/>
                <a:gd name="T37" fmla="*/ 322 h 582"/>
                <a:gd name="T38" fmla="*/ 564 w 592"/>
                <a:gd name="T39" fmla="*/ 259 h 582"/>
                <a:gd name="T40" fmla="*/ 327 w 592"/>
                <a:gd name="T41" fmla="*/ 23 h 582"/>
                <a:gd name="T42" fmla="*/ 296 w 592"/>
                <a:gd name="T43" fmla="*/ 1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2" h="582">
                  <a:moveTo>
                    <a:pt x="296" y="582"/>
                  </a:moveTo>
                  <a:cubicBezTo>
                    <a:pt x="282" y="582"/>
                    <a:pt x="268" y="576"/>
                    <a:pt x="258" y="566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0" y="308"/>
                    <a:pt x="0" y="274"/>
                    <a:pt x="21" y="252"/>
                  </a:cubicBezTo>
                  <a:cubicBezTo>
                    <a:pt x="258" y="16"/>
                    <a:pt x="258" y="16"/>
                    <a:pt x="258" y="16"/>
                  </a:cubicBezTo>
                  <a:cubicBezTo>
                    <a:pt x="268" y="5"/>
                    <a:pt x="282" y="0"/>
                    <a:pt x="296" y="0"/>
                  </a:cubicBezTo>
                  <a:cubicBezTo>
                    <a:pt x="311" y="0"/>
                    <a:pt x="324" y="5"/>
                    <a:pt x="334" y="16"/>
                  </a:cubicBezTo>
                  <a:cubicBezTo>
                    <a:pt x="571" y="252"/>
                    <a:pt x="571" y="252"/>
                    <a:pt x="571" y="252"/>
                  </a:cubicBezTo>
                  <a:cubicBezTo>
                    <a:pt x="592" y="274"/>
                    <a:pt x="592" y="308"/>
                    <a:pt x="571" y="329"/>
                  </a:cubicBezTo>
                  <a:cubicBezTo>
                    <a:pt x="334" y="566"/>
                    <a:pt x="334" y="566"/>
                    <a:pt x="334" y="566"/>
                  </a:cubicBezTo>
                  <a:cubicBezTo>
                    <a:pt x="324" y="576"/>
                    <a:pt x="311" y="582"/>
                    <a:pt x="296" y="582"/>
                  </a:cubicBezTo>
                  <a:close/>
                  <a:moveTo>
                    <a:pt x="296" y="10"/>
                  </a:moveTo>
                  <a:cubicBezTo>
                    <a:pt x="284" y="10"/>
                    <a:pt x="273" y="14"/>
                    <a:pt x="265" y="23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11" y="277"/>
                    <a:pt x="11" y="305"/>
                    <a:pt x="28" y="322"/>
                  </a:cubicBezTo>
                  <a:cubicBezTo>
                    <a:pt x="265" y="559"/>
                    <a:pt x="265" y="559"/>
                    <a:pt x="265" y="559"/>
                  </a:cubicBezTo>
                  <a:cubicBezTo>
                    <a:pt x="273" y="567"/>
                    <a:pt x="284" y="572"/>
                    <a:pt x="296" y="572"/>
                  </a:cubicBezTo>
                  <a:cubicBezTo>
                    <a:pt x="308" y="572"/>
                    <a:pt x="319" y="567"/>
                    <a:pt x="327" y="559"/>
                  </a:cubicBezTo>
                  <a:cubicBezTo>
                    <a:pt x="564" y="322"/>
                    <a:pt x="564" y="322"/>
                    <a:pt x="564" y="322"/>
                  </a:cubicBezTo>
                  <a:cubicBezTo>
                    <a:pt x="581" y="305"/>
                    <a:pt x="581" y="277"/>
                    <a:pt x="564" y="259"/>
                  </a:cubicBezTo>
                  <a:cubicBezTo>
                    <a:pt x="327" y="23"/>
                    <a:pt x="327" y="23"/>
                    <a:pt x="327" y="23"/>
                  </a:cubicBezTo>
                  <a:cubicBezTo>
                    <a:pt x="319" y="14"/>
                    <a:pt x="308" y="10"/>
                    <a:pt x="296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20" name="Freeform 1234"/>
            <p:cNvSpPr/>
            <p:nvPr>
              <p:custDataLst>
                <p:tags r:id="rId14"/>
              </p:custDataLst>
            </p:nvPr>
          </p:nvSpPr>
          <p:spPr bwMode="auto">
            <a:xfrm>
              <a:off x="-439065" y="612775"/>
              <a:ext cx="5009696" cy="5017704"/>
            </a:xfrm>
            <a:custGeom>
              <a:avLst/>
              <a:gdLst>
                <a:gd name="T0" fmla="*/ 634 w 1132"/>
                <a:gd name="T1" fmla="*/ 1095 h 1133"/>
                <a:gd name="T2" fmla="*/ 498 w 1132"/>
                <a:gd name="T3" fmla="*/ 1095 h 1133"/>
                <a:gd name="T4" fmla="*/ 37 w 1132"/>
                <a:gd name="T5" fmla="*/ 634 h 1133"/>
                <a:gd name="T6" fmla="*/ 37 w 1132"/>
                <a:gd name="T7" fmla="*/ 499 h 1133"/>
                <a:gd name="T8" fmla="*/ 498 w 1132"/>
                <a:gd name="T9" fmla="*/ 38 h 1133"/>
                <a:gd name="T10" fmla="*/ 634 w 1132"/>
                <a:gd name="T11" fmla="*/ 38 h 1133"/>
                <a:gd name="T12" fmla="*/ 1095 w 1132"/>
                <a:gd name="T13" fmla="*/ 499 h 1133"/>
                <a:gd name="T14" fmla="*/ 1095 w 1132"/>
                <a:gd name="T15" fmla="*/ 634 h 1133"/>
                <a:gd name="T16" fmla="*/ 634 w 1132"/>
                <a:gd name="T17" fmla="*/ 1095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1133">
                  <a:moveTo>
                    <a:pt x="634" y="1095"/>
                  </a:moveTo>
                  <a:cubicBezTo>
                    <a:pt x="596" y="1133"/>
                    <a:pt x="536" y="1133"/>
                    <a:pt x="498" y="1095"/>
                  </a:cubicBezTo>
                  <a:cubicBezTo>
                    <a:pt x="37" y="634"/>
                    <a:pt x="37" y="634"/>
                    <a:pt x="37" y="634"/>
                  </a:cubicBezTo>
                  <a:cubicBezTo>
                    <a:pt x="0" y="597"/>
                    <a:pt x="0" y="536"/>
                    <a:pt x="37" y="499"/>
                  </a:cubicBezTo>
                  <a:cubicBezTo>
                    <a:pt x="498" y="38"/>
                    <a:pt x="498" y="38"/>
                    <a:pt x="498" y="38"/>
                  </a:cubicBezTo>
                  <a:cubicBezTo>
                    <a:pt x="536" y="0"/>
                    <a:pt x="596" y="0"/>
                    <a:pt x="634" y="38"/>
                  </a:cubicBezTo>
                  <a:cubicBezTo>
                    <a:pt x="1095" y="499"/>
                    <a:pt x="1095" y="499"/>
                    <a:pt x="1095" y="499"/>
                  </a:cubicBezTo>
                  <a:cubicBezTo>
                    <a:pt x="1132" y="536"/>
                    <a:pt x="1132" y="597"/>
                    <a:pt x="1095" y="634"/>
                  </a:cubicBezTo>
                  <a:lnTo>
                    <a:pt x="634" y="10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3" name="矩形 22"/>
          <p:cNvSpPr/>
          <p:nvPr>
            <p:custDataLst>
              <p:tags r:id="rId15"/>
            </p:custDataLst>
          </p:nvPr>
        </p:nvSpPr>
        <p:spPr>
          <a:xfrm>
            <a:off x="2183765" y="2598420"/>
            <a:ext cx="741045" cy="46863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1</a:t>
            </a:r>
            <a:endParaRPr lang="en-US" altLang="zh-CN" sz="2400" dirty="0">
              <a:solidFill>
                <a:schemeClr val="bg1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lt"/>
            </a:endParaRPr>
          </a:p>
        </p:txBody>
      </p:sp>
      <p:sp>
        <p:nvSpPr>
          <p:cNvPr id="24" name="矩形 23"/>
          <p:cNvSpPr/>
          <p:nvPr>
            <p:custDataLst>
              <p:tags r:id="rId16"/>
            </p:custDataLst>
          </p:nvPr>
        </p:nvSpPr>
        <p:spPr>
          <a:xfrm>
            <a:off x="2183765" y="4072890"/>
            <a:ext cx="741045" cy="46863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2</a:t>
            </a:r>
            <a:endParaRPr lang="en-US" altLang="zh-CN" sz="2400" dirty="0">
              <a:solidFill>
                <a:schemeClr val="bg1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743835" y="2583815"/>
            <a:ext cx="7475220" cy="992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 FABP5</a:t>
            </a:r>
            <a:r>
              <a:rPr lang="zh-CN" altLang="en-US" sz="28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是</a:t>
            </a:r>
            <a:r>
              <a:rPr lang="zh-CN" altLang="en-US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否影响黑色素瘤生长</a:t>
            </a:r>
            <a:r>
              <a:rPr lang="en-US" altLang="zh-CN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？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870835" y="4011295"/>
            <a:ext cx="7475220" cy="992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FABP5</a:t>
            </a:r>
            <a:r>
              <a:rPr lang="zh-CN" altLang="en-US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是否通过</a:t>
            </a:r>
            <a:r>
              <a:rPr lang="zh-CN" altLang="en-US" sz="280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调节巨噬细胞功能</a:t>
            </a:r>
            <a:r>
              <a:rPr lang="zh-CN" altLang="en-US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来影响黑色素瘤</a:t>
            </a:r>
            <a:r>
              <a:rPr lang="zh-CN" altLang="en-US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生长？其作用机制</a:t>
            </a:r>
            <a:r>
              <a:rPr lang="zh-CN" altLang="en-US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是什么？</a:t>
            </a:r>
            <a:endParaRPr lang="zh-CN" altLang="en-US" sz="2800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endParaRPr lang="en-US" altLang="zh-CN">
              <a:latin typeface="宋体" pitchFamily="2" charset="-122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44" name="矩形 43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623392" y="310880"/>
                <a:ext cx="161290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anose="02020503050405090304" charset="0"/>
                  </a:rPr>
                  <a:t>研究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anose="02020503050405090304" charset="0"/>
                  </a:rPr>
                  <a:t>目的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anose="02020503050405090304" charset="0"/>
                </a:endParaRP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44" name="矩形 43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623392" y="310880"/>
                <a:ext cx="161290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anose="02020503050405090304" charset="0"/>
                  </a:rPr>
                  <a:t>研究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anose="02020503050405090304" charset="0"/>
                  </a:rPr>
                  <a:t>思路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anose="02020503050405090304" charset="0"/>
                </a:endParaRP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2" name="文本框 1"/>
          <p:cNvSpPr txBox="1"/>
          <p:nvPr/>
        </p:nvSpPr>
        <p:spPr>
          <a:xfrm>
            <a:off x="5812790" y="4344035"/>
            <a:ext cx="462280" cy="2438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4" name="图片 3" descr="2a533b97-47d0-40b6-91b1-1cfb7fd5a0a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703580"/>
            <a:ext cx="10875645" cy="60833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0" y="0"/>
            <a:ext cx="11965305" cy="793115"/>
            <a:chOff x="0" y="260648"/>
            <a:chExt cx="11965380" cy="838986"/>
          </a:xfrm>
        </p:grpSpPr>
        <p:sp>
          <p:nvSpPr>
            <p:cNvPr id="16" name="矩形 15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95400" y="260648"/>
              <a:ext cx="11269980" cy="574366"/>
              <a:chOff x="623392" y="310880"/>
              <a:chExt cx="11269980" cy="574366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623392" y="310880"/>
                <a:ext cx="11269980" cy="487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Result 1  </a:t>
                </a:r>
                <a:r>
                  <a:rPr kumimoji="0" lang="en-US" altLang="zh-CN" sz="2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FABP5</a:t>
                </a:r>
                <a:r>
                  <a:rPr kumimoji="0" lang="zh-CN" alt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高表达与黑色素瘤不良预后相关，并富集于</a:t>
                </a:r>
                <a:r>
                  <a:rPr kumimoji="0" lang="en-US" altLang="zh-CN" sz="2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TAM</a:t>
                </a:r>
                <a:endParaRPr kumimoji="0" lang="en-US" altLang="zh-CN" sz="2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pic>
        <p:nvPicPr>
          <p:cNvPr id="2" name="图片 1" descr="卿枫答辩ppt改_11"/>
          <p:cNvPicPr>
            <a:picLocks noChangeAspect="1"/>
          </p:cNvPicPr>
          <p:nvPr/>
        </p:nvPicPr>
        <p:blipFill>
          <a:blip r:embed="rId5"/>
          <a:srcRect t="806" r="-16" b="2620"/>
          <a:stretch>
            <a:fillRect/>
          </a:stretch>
        </p:blipFill>
        <p:spPr>
          <a:xfrm>
            <a:off x="226695" y="511175"/>
            <a:ext cx="11122025" cy="604139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910080" y="6419850"/>
            <a:ext cx="7844155" cy="367030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FABP5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可能通过调控巨噬细胞功能参与黑色素瘤恶性进展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805545" y="4925695"/>
            <a:ext cx="751205" cy="74041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123045" y="2407920"/>
            <a:ext cx="751840" cy="61150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209290" y="2407920"/>
            <a:ext cx="4336415" cy="79248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311525" y="5419725"/>
            <a:ext cx="4585335" cy="36639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0" y="1028"/>
            <a:ext cx="11965380" cy="838986"/>
            <a:chOff x="0" y="260648"/>
            <a:chExt cx="11965380" cy="838986"/>
          </a:xfrm>
        </p:grpSpPr>
        <p:sp>
          <p:nvSpPr>
            <p:cNvPr id="16" name="矩形 15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95400" y="260648"/>
              <a:ext cx="11269980" cy="829945"/>
              <a:chOff x="623392" y="310880"/>
              <a:chExt cx="11269980" cy="829945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623392" y="310880"/>
                <a:ext cx="11269980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Result 2  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FABP5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缺失或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抑制抑制黑色素瘤生长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宋体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宋体" pitchFamily="2" charset="-122"/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8" name="矩形 7"/>
          <p:cNvSpPr/>
          <p:nvPr/>
        </p:nvSpPr>
        <p:spPr>
          <a:xfrm>
            <a:off x="41275" y="5431790"/>
            <a:ext cx="3042285" cy="1046480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FABP5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缺失或抑制可减缓黑色素瘤生长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pic>
        <p:nvPicPr>
          <p:cNvPr id="4" name="图片 3" descr="Actin-sample-R"/>
          <p:cNvPicPr>
            <a:picLocks noChangeAspect="1"/>
          </p:cNvPicPr>
          <p:nvPr/>
        </p:nvPicPr>
        <p:blipFill>
          <a:blip r:embed="rId5"/>
          <a:srcRect l="12539" t="63671" r="21914" b="28495"/>
          <a:stretch>
            <a:fillRect/>
          </a:stretch>
        </p:blipFill>
        <p:spPr>
          <a:xfrm>
            <a:off x="838200" y="3782695"/>
            <a:ext cx="2113915" cy="30924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5" name="文本框 12"/>
          <p:cNvSpPr txBox="1"/>
          <p:nvPr/>
        </p:nvSpPr>
        <p:spPr>
          <a:xfrm>
            <a:off x="41275" y="3732530"/>
            <a:ext cx="864235" cy="76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latin typeface="Arial" panose="020B0604020202090204" pitchFamily="34" charset="0"/>
                <a:cs typeface="Arial" panose="020B0604020202090204" pitchFamily="34" charset="0"/>
              </a:rPr>
              <a:t>β-actin</a:t>
            </a:r>
            <a:endParaRPr lang="en-US" altLang="zh-CN" sz="14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6" name="图片 5" descr="FABP5-3-sample"/>
          <p:cNvPicPr>
            <a:picLocks noChangeAspect="1"/>
          </p:cNvPicPr>
          <p:nvPr/>
        </p:nvPicPr>
        <p:blipFill>
          <a:blip r:embed="rId6"/>
          <a:srcRect l="15708" t="70986" r="23810" b="22971"/>
          <a:stretch>
            <a:fillRect/>
          </a:stretch>
        </p:blipFill>
        <p:spPr>
          <a:xfrm>
            <a:off x="838200" y="3314700"/>
            <a:ext cx="2114550" cy="27432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0" name="文本框 12"/>
          <p:cNvSpPr txBox="1"/>
          <p:nvPr/>
        </p:nvSpPr>
        <p:spPr>
          <a:xfrm>
            <a:off x="41275" y="3314700"/>
            <a:ext cx="864235" cy="76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latin typeface="Arial" panose="020B0604020202090204" pitchFamily="34" charset="0"/>
                <a:cs typeface="Arial" panose="020B0604020202090204" pitchFamily="34" charset="0"/>
              </a:rPr>
              <a:t>FABP5</a:t>
            </a:r>
            <a:endParaRPr lang="en-US" altLang="zh-CN" sz="14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50290" y="2883535"/>
            <a:ext cx="1419225" cy="76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dirty="0">
                <a:latin typeface="Arial" panose="020B0604020202090204" pitchFamily="34" charset="0"/>
                <a:cs typeface="Arial" panose="020B0604020202090204" pitchFamily="34" charset="0"/>
              </a:rPr>
              <a:t>WT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03730" y="2965450"/>
            <a:ext cx="2193290" cy="76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000" i="1" kern="100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Fabp5fl/fl,Lyz-Cre</a:t>
            </a:r>
            <a:endParaRPr lang="en-US" altLang="zh-CN" sz="1000" i="1" kern="100" dirty="0">
              <a:solidFill>
                <a:srgbClr val="000000"/>
              </a:solidFill>
              <a:effectLst/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903730" y="3206115"/>
            <a:ext cx="104902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905510" y="3206115"/>
            <a:ext cx="89535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6" name="图片 35" descr="ChatGPT Image 2026年10月14日 19_27_03"/>
          <p:cNvPicPr>
            <a:picLocks noChangeAspect="1"/>
          </p:cNvPicPr>
          <p:nvPr/>
        </p:nvPicPr>
        <p:blipFill>
          <a:blip r:embed="rId7"/>
          <a:srcRect l="1141" t="17942" r="1408" b="10504"/>
          <a:stretch>
            <a:fillRect/>
          </a:stretch>
        </p:blipFill>
        <p:spPr>
          <a:xfrm>
            <a:off x="139700" y="789940"/>
            <a:ext cx="2839085" cy="1564640"/>
          </a:xfrm>
          <a:prstGeom prst="rect">
            <a:avLst/>
          </a:prstGeom>
        </p:spPr>
      </p:pic>
      <p:pic>
        <p:nvPicPr>
          <p:cNvPr id="37" name="图片 36" descr="演示文稿2_02"/>
          <p:cNvPicPr>
            <a:picLocks noChangeAspect="1"/>
          </p:cNvPicPr>
          <p:nvPr/>
        </p:nvPicPr>
        <p:blipFill>
          <a:blip r:embed="rId8"/>
          <a:srcRect l="1232" r="18671" b="67310"/>
          <a:stretch>
            <a:fillRect/>
          </a:stretch>
        </p:blipFill>
        <p:spPr>
          <a:xfrm>
            <a:off x="3726180" y="876935"/>
            <a:ext cx="8383270" cy="1924685"/>
          </a:xfrm>
          <a:prstGeom prst="rect">
            <a:avLst/>
          </a:prstGeom>
        </p:spPr>
      </p:pic>
      <p:pic>
        <p:nvPicPr>
          <p:cNvPr id="38" name="图片 37" descr="演示文稿2_02"/>
          <p:cNvPicPr>
            <a:picLocks noChangeAspect="1"/>
          </p:cNvPicPr>
          <p:nvPr/>
        </p:nvPicPr>
        <p:blipFill>
          <a:blip r:embed="rId8"/>
          <a:srcRect l="849" t="63773" r="18264"/>
          <a:stretch>
            <a:fillRect/>
          </a:stretch>
        </p:blipFill>
        <p:spPr>
          <a:xfrm>
            <a:off x="3726180" y="4706620"/>
            <a:ext cx="8465820" cy="2132965"/>
          </a:xfrm>
          <a:prstGeom prst="rect">
            <a:avLst/>
          </a:prstGeom>
        </p:spPr>
      </p:pic>
      <p:pic>
        <p:nvPicPr>
          <p:cNvPr id="39" name="图片 38" descr="演示文稿2_02"/>
          <p:cNvPicPr>
            <a:picLocks noChangeAspect="1"/>
          </p:cNvPicPr>
          <p:nvPr/>
        </p:nvPicPr>
        <p:blipFill>
          <a:blip r:embed="rId8"/>
          <a:srcRect l="1232" t="34060" r="17882" b="36519"/>
          <a:stretch>
            <a:fillRect/>
          </a:stretch>
        </p:blipFill>
        <p:spPr>
          <a:xfrm>
            <a:off x="3726180" y="2951480"/>
            <a:ext cx="8465820" cy="1732280"/>
          </a:xfrm>
          <a:prstGeom prst="rect">
            <a:avLst/>
          </a:prstGeom>
        </p:spPr>
      </p:pic>
      <p:sp>
        <p:nvSpPr>
          <p:cNvPr id="50" name="矩形 49"/>
          <p:cNvSpPr/>
          <p:nvPr/>
        </p:nvSpPr>
        <p:spPr>
          <a:xfrm>
            <a:off x="3246755" y="877570"/>
            <a:ext cx="479425" cy="1769745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A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3261995" y="2809875"/>
            <a:ext cx="464185" cy="1727835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B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61995" y="4654550"/>
            <a:ext cx="464185" cy="1873250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C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3819525" y="676910"/>
            <a:ext cx="1296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itchFamily="2" charset="-122"/>
                <a:ea typeface="宋体" pitchFamily="2" charset="-122"/>
              </a:rPr>
              <a:t>全身敲除</a:t>
            </a:r>
            <a:endParaRPr lang="zh-CN" altLang="en-US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872230" y="2707640"/>
            <a:ext cx="1665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FABP5</a:t>
            </a:r>
            <a:r>
              <a:rPr lang="zh-CN" altLang="en-US">
                <a:latin typeface="宋体" pitchFamily="2" charset="-122"/>
                <a:ea typeface="宋体" pitchFamily="2" charset="-122"/>
              </a:rPr>
              <a:t>抑制剂</a:t>
            </a:r>
            <a:endParaRPr lang="zh-CN" altLang="en-US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805555" y="4578350"/>
            <a:ext cx="2292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itchFamily="2" charset="-122"/>
                <a:ea typeface="宋体" pitchFamily="2" charset="-122"/>
              </a:rPr>
              <a:t>髓系特异性敲除</a:t>
            </a:r>
            <a:endParaRPr lang="zh-CN" altLang="en-US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6" name="下箭头 55"/>
          <p:cNvSpPr/>
          <p:nvPr/>
        </p:nvSpPr>
        <p:spPr>
          <a:xfrm>
            <a:off x="1596390" y="2539365"/>
            <a:ext cx="204470" cy="29083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735965" y="4387850"/>
            <a:ext cx="2284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验证敲除有效</a:t>
            </a:r>
            <a:endParaRPr lang="zh-CN" altLang="en-US" sz="200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0" y="140728"/>
            <a:ext cx="11965380" cy="838986"/>
            <a:chOff x="0" y="260648"/>
            <a:chExt cx="11965380" cy="838986"/>
          </a:xfrm>
        </p:grpSpPr>
        <p:sp>
          <p:nvSpPr>
            <p:cNvPr id="16" name="矩形 15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95400" y="260648"/>
              <a:ext cx="11269980" cy="574366"/>
              <a:chOff x="623392" y="310880"/>
              <a:chExt cx="11269980" cy="574366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  <p:sp>
            <p:nvSpPr>
              <p:cNvPr id="18" name="文本框 17"/>
              <p:cNvSpPr txBox="1"/>
              <p:nvPr/>
            </p:nvSpPr>
            <p:spPr>
              <a:xfrm>
                <a:off x="623392" y="310880"/>
                <a:ext cx="1126998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  <a:sym typeface="+mn-ea"/>
                  </a:rPr>
                  <a:t>Result 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3  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FABP5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缺失重塑免疫微环境并增强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CD8</a:t>
                </a:r>
                <a:r>
                  <a:rPr kumimoji="0" lang="en-US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⁺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 T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细胞效应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宋体" pitchFamily="2" charset="-122"/>
                </a:endParaRPr>
              </a:p>
            </p:txBody>
          </p:sp>
        </p:grpSp>
      </p:grpSp>
      <p:pic>
        <p:nvPicPr>
          <p:cNvPr id="3" name="图片 2" descr="FABP5敲除对黑色素瘤影响_13"/>
          <p:cNvPicPr>
            <a:picLocks noChangeAspect="1"/>
          </p:cNvPicPr>
          <p:nvPr/>
        </p:nvPicPr>
        <p:blipFill>
          <a:blip r:embed="rId5"/>
          <a:srcRect l="2833" t="8769" r="3328" b="11759"/>
          <a:stretch>
            <a:fillRect/>
          </a:stretch>
        </p:blipFill>
        <p:spPr>
          <a:xfrm>
            <a:off x="345440" y="842645"/>
            <a:ext cx="11440795" cy="545020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0" y="140728"/>
            <a:ext cx="11965380" cy="838986"/>
            <a:chOff x="0" y="260648"/>
            <a:chExt cx="11965380" cy="838986"/>
          </a:xfrm>
        </p:grpSpPr>
        <p:sp>
          <p:nvSpPr>
            <p:cNvPr id="16" name="矩形 15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95400" y="260648"/>
              <a:ext cx="11269980" cy="574366"/>
              <a:chOff x="623392" y="310880"/>
              <a:chExt cx="11269980" cy="574366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  <p:sp>
            <p:nvSpPr>
              <p:cNvPr id="18" name="文本框 17"/>
              <p:cNvSpPr txBox="1"/>
              <p:nvPr/>
            </p:nvSpPr>
            <p:spPr>
              <a:xfrm>
                <a:off x="623392" y="310880"/>
                <a:ext cx="1126998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  <a:sym typeface="+mn-ea"/>
                  </a:rPr>
                  <a:t>Result 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3  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FABP5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缺失重塑免疫微环境并增强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CD8</a:t>
                </a:r>
                <a:r>
                  <a:rPr kumimoji="0" lang="en-US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⁺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 T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细胞效应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宋体" pitchFamily="2" charset="-122"/>
                </a:endParaRPr>
              </a:p>
            </p:txBody>
          </p:sp>
        </p:grpSp>
      </p:grpSp>
      <p:sp>
        <p:nvSpPr>
          <p:cNvPr id="6" name="矩形 5"/>
          <p:cNvSpPr/>
          <p:nvPr/>
        </p:nvSpPr>
        <p:spPr>
          <a:xfrm>
            <a:off x="1644650" y="6205220"/>
            <a:ext cx="8384540" cy="461010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髓系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Fabp5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缺失后，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CD8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⁺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 T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细胞比例及其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IFN-γ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表达增加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pic>
        <p:nvPicPr>
          <p:cNvPr id="3" name="图片 2" descr="排图终_05"/>
          <p:cNvPicPr>
            <a:picLocks noChangeAspect="1"/>
          </p:cNvPicPr>
          <p:nvPr/>
        </p:nvPicPr>
        <p:blipFill>
          <a:blip r:embed="rId5"/>
          <a:srcRect l="3482"/>
          <a:stretch>
            <a:fillRect/>
          </a:stretch>
        </p:blipFill>
        <p:spPr>
          <a:xfrm>
            <a:off x="824230" y="456565"/>
            <a:ext cx="9862820" cy="5748655"/>
          </a:xfrm>
          <a:prstGeom prst="rect">
            <a:avLst/>
          </a:prstGeom>
        </p:spPr>
      </p:pic>
      <p:graphicFrame>
        <p:nvGraphicFramePr>
          <p:cNvPr id="47" name="对象 46"/>
          <p:cNvGraphicFramePr/>
          <p:nvPr/>
        </p:nvGraphicFramePr>
        <p:xfrm>
          <a:off x="6593840" y="456565"/>
          <a:ext cx="2239645" cy="152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6" imgW="3536950" imgH="2279650" progId="Prism10.Document">
                  <p:embed/>
                </p:oleObj>
              </mc:Choice>
              <mc:Fallback>
                <p:oleObj name="" r:id="rId6" imgW="3536950" imgH="2279650" progId="Prism10.Document">
                  <p:embed/>
                  <p:pic>
                    <p:nvPicPr>
                      <p:cNvPr id="0" name="图片 4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93840" y="456565"/>
                        <a:ext cx="2239645" cy="152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/>
          <p:nvPr/>
        </p:nvGraphicFramePr>
        <p:xfrm>
          <a:off x="7404735" y="1793240"/>
          <a:ext cx="2684780" cy="1668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" r:id="rId8" imgW="3759200" imgH="2470150" progId="Prism10.Document">
                  <p:embed/>
                </p:oleObj>
              </mc:Choice>
              <mc:Fallback>
                <p:oleObj name="" r:id="rId8" imgW="3759200" imgH="2470150" progId="Prism10.Document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04735" y="1793240"/>
                        <a:ext cx="2684780" cy="1668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/>
          <p:nvPr/>
        </p:nvGraphicFramePr>
        <p:xfrm>
          <a:off x="7454900" y="3401695"/>
          <a:ext cx="2634615" cy="1525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10" imgW="3759200" imgH="2273300" progId="Prism10.Document">
                  <p:embed/>
                </p:oleObj>
              </mc:Choice>
              <mc:Fallback>
                <p:oleObj name="" r:id="rId10" imgW="3759200" imgH="2273300" progId="Prism10.Document">
                  <p:embed/>
                  <p:pic>
                    <p:nvPicPr>
                      <p:cNvPr id="0" name="图片 2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54900" y="3401695"/>
                        <a:ext cx="2634615" cy="1525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/>
          <p:nvPr/>
        </p:nvGraphicFramePr>
        <p:xfrm>
          <a:off x="7454900" y="4780280"/>
          <a:ext cx="2685415" cy="1424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" r:id="rId12" imgW="3771900" imgH="2298700" progId="Prism10.Document">
                  <p:embed/>
                </p:oleObj>
              </mc:Choice>
              <mc:Fallback>
                <p:oleObj name="" r:id="rId12" imgW="3771900" imgH="2298700" progId="Prism10.Document">
                  <p:embed/>
                  <p:pic>
                    <p:nvPicPr>
                      <p:cNvPr id="0" name="图片 3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454900" y="4780280"/>
                        <a:ext cx="2685415" cy="1424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/>
          <p:nvPr/>
        </p:nvSpPr>
        <p:spPr>
          <a:xfrm>
            <a:off x="7387590" y="1906270"/>
            <a:ext cx="2752725" cy="152590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39165" y="3079115"/>
            <a:ext cx="3401060" cy="24638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0" y="140728"/>
            <a:ext cx="10178490" cy="838986"/>
            <a:chOff x="0" y="260648"/>
            <a:chExt cx="10178490" cy="838986"/>
          </a:xfrm>
        </p:grpSpPr>
        <p:sp>
          <p:nvSpPr>
            <p:cNvPr id="16" name="矩形 15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95400" y="260648"/>
              <a:ext cx="9483090" cy="666750"/>
              <a:chOff x="623392" y="310880"/>
              <a:chExt cx="9483090" cy="666750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623392" y="310880"/>
                <a:ext cx="9483090" cy="66675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  <a:sym typeface="+mn-ea"/>
                  </a:rPr>
                  <a:t>Result 4  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CD8</a:t>
                </a:r>
                <a:r>
                  <a:rPr kumimoji="0" lang="en-US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⁺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 T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细胞清除削弱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Fabp5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缺失介导的抗肿瘤效应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宋体" pitchFamily="2" charset="-122"/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6" name="矩形 5"/>
          <p:cNvSpPr/>
          <p:nvPr/>
        </p:nvSpPr>
        <p:spPr>
          <a:xfrm>
            <a:off x="1765300" y="6326505"/>
            <a:ext cx="8027670" cy="460375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FABP5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缺失介导的抗肿瘤效应至少部分依赖于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CD8</a:t>
            </a:r>
            <a:r>
              <a:rPr kumimoji="0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+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细胞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pic>
        <p:nvPicPr>
          <p:cNvPr id="4" name="图片 3" descr="FABP5敲除对黑色素瘤影响_12"/>
          <p:cNvPicPr>
            <a:picLocks noChangeAspect="1"/>
          </p:cNvPicPr>
          <p:nvPr/>
        </p:nvPicPr>
        <p:blipFill>
          <a:blip r:embed="rId5"/>
          <a:srcRect l="1859" t="4583" b="12954"/>
          <a:stretch>
            <a:fillRect/>
          </a:stretch>
        </p:blipFill>
        <p:spPr>
          <a:xfrm>
            <a:off x="245745" y="626110"/>
            <a:ext cx="11717655" cy="553847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7905115" y="2109470"/>
            <a:ext cx="2781935" cy="16344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0" y="140728"/>
            <a:ext cx="10178490" cy="838986"/>
            <a:chOff x="0" y="260648"/>
            <a:chExt cx="10178490" cy="838986"/>
          </a:xfrm>
        </p:grpSpPr>
        <p:sp>
          <p:nvSpPr>
            <p:cNvPr id="16" name="矩形 15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95400" y="260648"/>
              <a:ext cx="9483090" cy="666750"/>
              <a:chOff x="623392" y="310880"/>
              <a:chExt cx="9483090" cy="666750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623392" y="310880"/>
                <a:ext cx="9483090" cy="66675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  <a:sym typeface="+mn-ea"/>
                  </a:rPr>
                  <a:t>Result 5  FABP5</a:t>
                </a:r>
                <a:r>
                  <a:rPr lang="zh-CN" altLang="en-US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  <a:sym typeface="+mn-ea"/>
                  </a:rPr>
                  <a:t>缺失伴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TAM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中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CXCL9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表达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上调</a:t>
                </a:r>
                <a:endPara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宋体" pitchFamily="2" charset="-122"/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6" name="矩形 5"/>
          <p:cNvSpPr/>
          <p:nvPr/>
        </p:nvSpPr>
        <p:spPr>
          <a:xfrm>
            <a:off x="3369945" y="6326505"/>
            <a:ext cx="6029325" cy="460375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发现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 TAM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中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CXCL9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上调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</p:txBody>
      </p:sp>
      <p:pic>
        <p:nvPicPr>
          <p:cNvPr id="8" name="图片 7" descr="排图终_03(1)"/>
          <p:cNvPicPr>
            <a:picLocks noChangeAspect="1"/>
          </p:cNvPicPr>
          <p:nvPr/>
        </p:nvPicPr>
        <p:blipFill>
          <a:blip r:embed="rId5"/>
          <a:srcRect l="3771" t="2778" r="2399" b="10088"/>
          <a:stretch>
            <a:fillRect/>
          </a:stretch>
        </p:blipFill>
        <p:spPr>
          <a:xfrm>
            <a:off x="695325" y="645795"/>
            <a:ext cx="10522585" cy="5678805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8291195" y="645795"/>
            <a:ext cx="2003425" cy="133985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930390" y="5047615"/>
            <a:ext cx="551180" cy="2457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293620" y="3769995"/>
            <a:ext cx="400050" cy="23793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759065" y="5769610"/>
            <a:ext cx="2928620" cy="1212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0" y="-34532"/>
            <a:ext cx="10178490" cy="838986"/>
            <a:chOff x="0" y="260648"/>
            <a:chExt cx="10178490" cy="838986"/>
          </a:xfrm>
        </p:grpSpPr>
        <p:sp>
          <p:nvSpPr>
            <p:cNvPr id="16" name="矩形 15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95400" y="260648"/>
              <a:ext cx="9483090" cy="666750"/>
              <a:chOff x="623392" y="310880"/>
              <a:chExt cx="9483090" cy="666750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623392" y="310880"/>
                <a:ext cx="9483090" cy="66675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  <a:sym typeface="+mn-ea"/>
                  </a:rPr>
                  <a:t>Result 5  </a:t>
                </a:r>
                <a:r>
                  <a:rPr lang="en-US" altLang="zh-CN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  <a:sym typeface="+mn-ea"/>
                  </a:rPr>
                  <a:t>FABP5</a:t>
                </a:r>
                <a:r>
                  <a:rPr lang="zh-CN" altLang="en-US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  <a:sym typeface="+mn-ea"/>
                  </a:rPr>
                  <a:t>缺失伴</a:t>
                </a:r>
                <a:r>
                  <a:rPr lang="en-US" altLang="zh-CN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  <a:sym typeface="+mn-ea"/>
                  </a:rPr>
                  <a:t>TAM</a:t>
                </a:r>
                <a:r>
                  <a:rPr lang="zh-CN" altLang="en-US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宋体" pitchFamily="2" charset="-122"/>
                    <a:sym typeface="+mn-ea"/>
                  </a:rPr>
                  <a:t>中</a:t>
                </a:r>
                <a:r>
                  <a:rPr lang="en-US" altLang="zh-CN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  <a:sym typeface="+mn-ea"/>
                  </a:rPr>
                  <a:t>CXCL9</a:t>
                </a:r>
                <a:r>
                  <a:rPr lang="zh-CN" altLang="en-US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  <a:sym typeface="+mn-ea"/>
                  </a:rPr>
                  <a:t>表达</a:t>
                </a:r>
                <a:r>
                  <a:rPr lang="zh-CN" altLang="en-US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宋体" pitchFamily="2" charset="-122"/>
                    <a:sym typeface="+mn-ea"/>
                  </a:rPr>
                  <a:t>上调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 Bold" panose="02020503050405090304" charset="0"/>
                  <a:ea typeface="宋体" pitchFamily="2" charset="-122"/>
                  <a:cs typeface="Times New Roman Bold" panose="02020503050405090304" charset="0"/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pic>
        <p:nvPicPr>
          <p:cNvPr id="4" name="图片 3" descr="TAM RNA-seq分析-实验小结(1)_03(1)"/>
          <p:cNvPicPr>
            <a:picLocks noChangeAspect="1"/>
          </p:cNvPicPr>
          <p:nvPr/>
        </p:nvPicPr>
        <p:blipFill>
          <a:blip r:embed="rId5"/>
          <a:srcRect l="3453" t="9417" r="7307" b="1037"/>
          <a:stretch>
            <a:fillRect/>
          </a:stretch>
        </p:blipFill>
        <p:spPr>
          <a:xfrm>
            <a:off x="695325" y="804545"/>
            <a:ext cx="10235565" cy="57772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94840" y="3782695"/>
            <a:ext cx="2494915" cy="372110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组织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ELISA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验证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18945" y="539750"/>
            <a:ext cx="2494915" cy="372110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组织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qPCR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验证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046085" y="539750"/>
            <a:ext cx="2378710" cy="372110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细胞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qPCR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验证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22895" y="3660140"/>
            <a:ext cx="2378710" cy="372110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细胞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ELISA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验证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985895" y="6478905"/>
            <a:ext cx="4685665" cy="379095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验证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 TAM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中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CXCL9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上调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0" y="140728"/>
            <a:ext cx="10178490" cy="838986"/>
            <a:chOff x="0" y="260648"/>
            <a:chExt cx="10178490" cy="838986"/>
          </a:xfrm>
        </p:grpSpPr>
        <p:sp>
          <p:nvSpPr>
            <p:cNvPr id="16" name="矩形 15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95400" y="260648"/>
              <a:ext cx="9483090" cy="666750"/>
              <a:chOff x="623392" y="310880"/>
              <a:chExt cx="9483090" cy="666750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623392" y="310880"/>
                <a:ext cx="9483090" cy="66675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400" b="1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  <a:sym typeface="+mn-ea"/>
                  </a:rPr>
                  <a:t>Result 6  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受体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Cxcr3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位于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CD8</a:t>
                </a:r>
                <a:r>
                  <a:rPr kumimoji="0" lang="en-US" altLang="zh-CN" sz="2400" b="1" i="0" u="none" strike="noStrike" kern="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+</a:t>
                </a: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T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 Bold" panose="02020503050405090304" charset="0"/>
                    <a:ea typeface="宋体" pitchFamily="2" charset="-122"/>
                    <a:cs typeface="Times New Roman Bold" panose="02020503050405090304" charset="0"/>
                  </a:rPr>
                  <a:t>细胞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 Bold" panose="02020503050405090304" charset="0"/>
                  <a:ea typeface="宋体" pitchFamily="2" charset="-122"/>
                  <a:cs typeface="Times New Roman Bold" panose="02020503050405090304" charset="0"/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6" name="矩形 5"/>
          <p:cNvSpPr/>
          <p:nvPr/>
        </p:nvSpPr>
        <p:spPr>
          <a:xfrm>
            <a:off x="2978785" y="5818505"/>
            <a:ext cx="6116320" cy="570865"/>
          </a:xfrm>
          <a:prstGeom prst="rect">
            <a:avLst/>
          </a:prstGeom>
          <a:solidFill>
            <a:srgbClr val="961318"/>
          </a:solidFill>
          <a:ln w="25400" cap="flat" cmpd="sng" algn="ctr">
            <a:solidFill>
              <a:srgbClr val="96131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提出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CXCL9–CXCR3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候选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调控轴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</p:txBody>
      </p:sp>
      <p:pic>
        <p:nvPicPr>
          <p:cNvPr id="3" name="图片 2" descr="ChatGPT Image 2026年10月11日 19_46_43"/>
          <p:cNvPicPr>
            <a:picLocks noChangeAspect="1"/>
          </p:cNvPicPr>
          <p:nvPr/>
        </p:nvPicPr>
        <p:blipFill>
          <a:blip r:embed="rId5"/>
          <a:srcRect t="9788" r="25773" b="6918"/>
          <a:stretch>
            <a:fillRect/>
          </a:stretch>
        </p:blipFill>
        <p:spPr>
          <a:xfrm>
            <a:off x="6275705" y="1647825"/>
            <a:ext cx="5689600" cy="35934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6695" y="1731010"/>
            <a:ext cx="509905" cy="49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 b="1">
              <a:latin typeface="Arial Bold" panose="020B0604020202090204" charset="0"/>
              <a:ea typeface="宋体" pitchFamily="2" charset="-122"/>
              <a:cs typeface="Arial Bold" panose="020B0604020202090204" charset="0"/>
            </a:endParaRPr>
          </a:p>
        </p:txBody>
      </p:sp>
      <p:pic>
        <p:nvPicPr>
          <p:cNvPr id="2" name="图片 1" descr="CXCR_group_FeaturePlot"/>
          <p:cNvPicPr>
            <a:picLocks noChangeAspect="1"/>
          </p:cNvPicPr>
          <p:nvPr/>
        </p:nvPicPr>
        <p:blipFill>
          <a:blip r:embed="rId6"/>
          <a:srcRect t="17888" r="4641"/>
          <a:stretch>
            <a:fillRect/>
          </a:stretch>
        </p:blipFill>
        <p:spPr>
          <a:xfrm>
            <a:off x="226695" y="2073275"/>
            <a:ext cx="5928995" cy="2753995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3944620" y="2117090"/>
            <a:ext cx="1898650" cy="131127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596" y="676618"/>
            <a:ext cx="6541996" cy="654199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98750" y="767080"/>
            <a:ext cx="6264275" cy="965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endParaRPr lang="zh-CN" sz="4400" b="1" dirty="0">
              <a:solidFill>
                <a:srgbClr val="C00000"/>
              </a:solidFill>
              <a:latin typeface="宋体" pitchFamily="2" charset="-122"/>
              <a:ea typeface="宋体" pitchFamily="2" charset="-122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24230" y="1717675"/>
            <a:ext cx="10459720" cy="4351655"/>
          </a:xfrm>
          <a:prstGeom prst="roundRect">
            <a:avLst>
              <a:gd name="adj" fmla="val 6791"/>
            </a:avLst>
          </a:prstGeom>
          <a:noFill/>
          <a:ln>
            <a:solidFill>
              <a:srgbClr val="C0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1496695" y="2522855"/>
            <a:ext cx="1247140" cy="53911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0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01</a:t>
            </a:r>
            <a:endParaRPr lang="zh-CN" altLang="en-US" sz="2000" dirty="0">
              <a:solidFill>
                <a:schemeClr val="bg1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lt"/>
            </a:endParaRPr>
          </a:p>
        </p:txBody>
      </p:sp>
      <p:grpSp>
        <p:nvGrpSpPr>
          <p:cNvPr id="15" name="组合 14"/>
          <p:cNvGrpSpPr/>
          <p:nvPr>
            <p:custDataLst>
              <p:tags r:id="rId7"/>
            </p:custDataLst>
          </p:nvPr>
        </p:nvGrpSpPr>
        <p:grpSpPr>
          <a:xfrm>
            <a:off x="1137285" y="2067560"/>
            <a:ext cx="728980" cy="727710"/>
            <a:chOff x="-1090613" y="612775"/>
            <a:chExt cx="5661244" cy="5268912"/>
          </a:xfrm>
          <a:solidFill>
            <a:srgbClr val="C00000"/>
          </a:solidFill>
        </p:grpSpPr>
        <p:sp>
          <p:nvSpPr>
            <p:cNvPr id="16" name="Freeform 124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-1090613" y="612775"/>
              <a:ext cx="5359400" cy="5268912"/>
            </a:xfrm>
            <a:custGeom>
              <a:avLst/>
              <a:gdLst>
                <a:gd name="T0" fmla="*/ 296 w 592"/>
                <a:gd name="T1" fmla="*/ 582 h 582"/>
                <a:gd name="T2" fmla="*/ 258 w 592"/>
                <a:gd name="T3" fmla="*/ 566 h 582"/>
                <a:gd name="T4" fmla="*/ 21 w 592"/>
                <a:gd name="T5" fmla="*/ 329 h 582"/>
                <a:gd name="T6" fmla="*/ 21 w 592"/>
                <a:gd name="T7" fmla="*/ 252 h 582"/>
                <a:gd name="T8" fmla="*/ 258 w 592"/>
                <a:gd name="T9" fmla="*/ 16 h 582"/>
                <a:gd name="T10" fmla="*/ 296 w 592"/>
                <a:gd name="T11" fmla="*/ 0 h 582"/>
                <a:gd name="T12" fmla="*/ 334 w 592"/>
                <a:gd name="T13" fmla="*/ 16 h 582"/>
                <a:gd name="T14" fmla="*/ 571 w 592"/>
                <a:gd name="T15" fmla="*/ 252 h 582"/>
                <a:gd name="T16" fmla="*/ 571 w 592"/>
                <a:gd name="T17" fmla="*/ 329 h 582"/>
                <a:gd name="T18" fmla="*/ 334 w 592"/>
                <a:gd name="T19" fmla="*/ 566 h 582"/>
                <a:gd name="T20" fmla="*/ 296 w 592"/>
                <a:gd name="T21" fmla="*/ 582 h 582"/>
                <a:gd name="T22" fmla="*/ 296 w 592"/>
                <a:gd name="T23" fmla="*/ 10 h 582"/>
                <a:gd name="T24" fmla="*/ 265 w 592"/>
                <a:gd name="T25" fmla="*/ 23 h 582"/>
                <a:gd name="T26" fmla="*/ 28 w 592"/>
                <a:gd name="T27" fmla="*/ 259 h 582"/>
                <a:gd name="T28" fmla="*/ 28 w 592"/>
                <a:gd name="T29" fmla="*/ 322 h 582"/>
                <a:gd name="T30" fmla="*/ 265 w 592"/>
                <a:gd name="T31" fmla="*/ 559 h 582"/>
                <a:gd name="T32" fmla="*/ 296 w 592"/>
                <a:gd name="T33" fmla="*/ 572 h 582"/>
                <a:gd name="T34" fmla="*/ 327 w 592"/>
                <a:gd name="T35" fmla="*/ 559 h 582"/>
                <a:gd name="T36" fmla="*/ 564 w 592"/>
                <a:gd name="T37" fmla="*/ 322 h 582"/>
                <a:gd name="T38" fmla="*/ 564 w 592"/>
                <a:gd name="T39" fmla="*/ 259 h 582"/>
                <a:gd name="T40" fmla="*/ 327 w 592"/>
                <a:gd name="T41" fmla="*/ 23 h 582"/>
                <a:gd name="T42" fmla="*/ 296 w 592"/>
                <a:gd name="T43" fmla="*/ 1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2" h="582">
                  <a:moveTo>
                    <a:pt x="296" y="582"/>
                  </a:moveTo>
                  <a:cubicBezTo>
                    <a:pt x="282" y="582"/>
                    <a:pt x="268" y="576"/>
                    <a:pt x="258" y="566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0" y="308"/>
                    <a:pt x="0" y="274"/>
                    <a:pt x="21" y="252"/>
                  </a:cubicBezTo>
                  <a:cubicBezTo>
                    <a:pt x="258" y="16"/>
                    <a:pt x="258" y="16"/>
                    <a:pt x="258" y="16"/>
                  </a:cubicBezTo>
                  <a:cubicBezTo>
                    <a:pt x="268" y="5"/>
                    <a:pt x="282" y="0"/>
                    <a:pt x="296" y="0"/>
                  </a:cubicBezTo>
                  <a:cubicBezTo>
                    <a:pt x="311" y="0"/>
                    <a:pt x="324" y="5"/>
                    <a:pt x="334" y="16"/>
                  </a:cubicBezTo>
                  <a:cubicBezTo>
                    <a:pt x="571" y="252"/>
                    <a:pt x="571" y="252"/>
                    <a:pt x="571" y="252"/>
                  </a:cubicBezTo>
                  <a:cubicBezTo>
                    <a:pt x="592" y="274"/>
                    <a:pt x="592" y="308"/>
                    <a:pt x="571" y="329"/>
                  </a:cubicBezTo>
                  <a:cubicBezTo>
                    <a:pt x="334" y="566"/>
                    <a:pt x="334" y="566"/>
                    <a:pt x="334" y="566"/>
                  </a:cubicBezTo>
                  <a:cubicBezTo>
                    <a:pt x="324" y="576"/>
                    <a:pt x="311" y="582"/>
                    <a:pt x="296" y="582"/>
                  </a:cubicBezTo>
                  <a:close/>
                  <a:moveTo>
                    <a:pt x="296" y="10"/>
                  </a:moveTo>
                  <a:cubicBezTo>
                    <a:pt x="284" y="10"/>
                    <a:pt x="273" y="14"/>
                    <a:pt x="265" y="23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11" y="277"/>
                    <a:pt x="11" y="305"/>
                    <a:pt x="28" y="322"/>
                  </a:cubicBezTo>
                  <a:cubicBezTo>
                    <a:pt x="265" y="559"/>
                    <a:pt x="265" y="559"/>
                    <a:pt x="265" y="559"/>
                  </a:cubicBezTo>
                  <a:cubicBezTo>
                    <a:pt x="273" y="567"/>
                    <a:pt x="284" y="572"/>
                    <a:pt x="296" y="572"/>
                  </a:cubicBezTo>
                  <a:cubicBezTo>
                    <a:pt x="308" y="572"/>
                    <a:pt x="319" y="567"/>
                    <a:pt x="327" y="559"/>
                  </a:cubicBezTo>
                  <a:cubicBezTo>
                    <a:pt x="564" y="322"/>
                    <a:pt x="564" y="322"/>
                    <a:pt x="564" y="322"/>
                  </a:cubicBezTo>
                  <a:cubicBezTo>
                    <a:pt x="581" y="305"/>
                    <a:pt x="581" y="277"/>
                    <a:pt x="564" y="259"/>
                  </a:cubicBezTo>
                  <a:cubicBezTo>
                    <a:pt x="327" y="23"/>
                    <a:pt x="327" y="23"/>
                    <a:pt x="327" y="23"/>
                  </a:cubicBezTo>
                  <a:cubicBezTo>
                    <a:pt x="319" y="14"/>
                    <a:pt x="308" y="10"/>
                    <a:pt x="296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17" name="Freeform 1234"/>
            <p:cNvSpPr/>
            <p:nvPr>
              <p:custDataLst>
                <p:tags r:id="rId9"/>
              </p:custDataLst>
            </p:nvPr>
          </p:nvSpPr>
          <p:spPr bwMode="auto">
            <a:xfrm>
              <a:off x="-439065" y="612775"/>
              <a:ext cx="5009696" cy="5017704"/>
            </a:xfrm>
            <a:custGeom>
              <a:avLst/>
              <a:gdLst>
                <a:gd name="T0" fmla="*/ 634 w 1132"/>
                <a:gd name="T1" fmla="*/ 1095 h 1133"/>
                <a:gd name="T2" fmla="*/ 498 w 1132"/>
                <a:gd name="T3" fmla="*/ 1095 h 1133"/>
                <a:gd name="T4" fmla="*/ 37 w 1132"/>
                <a:gd name="T5" fmla="*/ 634 h 1133"/>
                <a:gd name="T6" fmla="*/ 37 w 1132"/>
                <a:gd name="T7" fmla="*/ 499 h 1133"/>
                <a:gd name="T8" fmla="*/ 498 w 1132"/>
                <a:gd name="T9" fmla="*/ 38 h 1133"/>
                <a:gd name="T10" fmla="*/ 634 w 1132"/>
                <a:gd name="T11" fmla="*/ 38 h 1133"/>
                <a:gd name="T12" fmla="*/ 1095 w 1132"/>
                <a:gd name="T13" fmla="*/ 499 h 1133"/>
                <a:gd name="T14" fmla="*/ 1095 w 1132"/>
                <a:gd name="T15" fmla="*/ 634 h 1133"/>
                <a:gd name="T16" fmla="*/ 634 w 1132"/>
                <a:gd name="T17" fmla="*/ 1095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1133">
                  <a:moveTo>
                    <a:pt x="634" y="1095"/>
                  </a:moveTo>
                  <a:cubicBezTo>
                    <a:pt x="596" y="1133"/>
                    <a:pt x="536" y="1133"/>
                    <a:pt x="498" y="1095"/>
                  </a:cubicBezTo>
                  <a:cubicBezTo>
                    <a:pt x="37" y="634"/>
                    <a:pt x="37" y="634"/>
                    <a:pt x="37" y="634"/>
                  </a:cubicBezTo>
                  <a:cubicBezTo>
                    <a:pt x="0" y="597"/>
                    <a:pt x="0" y="536"/>
                    <a:pt x="37" y="499"/>
                  </a:cubicBezTo>
                  <a:cubicBezTo>
                    <a:pt x="498" y="38"/>
                    <a:pt x="498" y="38"/>
                    <a:pt x="498" y="38"/>
                  </a:cubicBezTo>
                  <a:cubicBezTo>
                    <a:pt x="536" y="0"/>
                    <a:pt x="596" y="0"/>
                    <a:pt x="634" y="38"/>
                  </a:cubicBezTo>
                  <a:cubicBezTo>
                    <a:pt x="1095" y="499"/>
                    <a:pt x="1095" y="499"/>
                    <a:pt x="1095" y="499"/>
                  </a:cubicBezTo>
                  <a:cubicBezTo>
                    <a:pt x="1132" y="536"/>
                    <a:pt x="1132" y="597"/>
                    <a:pt x="1095" y="634"/>
                  </a:cubicBezTo>
                  <a:lnTo>
                    <a:pt x="634" y="10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2262505" y="4138295"/>
            <a:ext cx="741045" cy="46863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1</a:t>
            </a:r>
            <a:endParaRPr lang="en-US" altLang="zh-CN" sz="2400" dirty="0">
              <a:solidFill>
                <a:schemeClr val="bg1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lt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933575" y="4194810"/>
            <a:ext cx="765175" cy="53911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0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01</a:t>
            </a:r>
            <a:endParaRPr lang="zh-CN" altLang="en-US" sz="2000" dirty="0">
              <a:solidFill>
                <a:schemeClr val="bg1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lt"/>
            </a:endParaRPr>
          </a:p>
        </p:txBody>
      </p:sp>
      <p:grpSp>
        <p:nvGrpSpPr>
          <p:cNvPr id="14" name="组合 13"/>
          <p:cNvGrpSpPr/>
          <p:nvPr>
            <p:custDataLst>
              <p:tags r:id="rId12"/>
            </p:custDataLst>
          </p:nvPr>
        </p:nvGrpSpPr>
        <p:grpSpPr>
          <a:xfrm>
            <a:off x="1089660" y="3283585"/>
            <a:ext cx="728980" cy="727710"/>
            <a:chOff x="-1090613" y="612775"/>
            <a:chExt cx="5661244" cy="5268912"/>
          </a:xfrm>
          <a:solidFill>
            <a:srgbClr val="C00000"/>
          </a:solidFill>
        </p:grpSpPr>
        <p:sp>
          <p:nvSpPr>
            <p:cNvPr id="19" name="Freeform 124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-1090613" y="612775"/>
              <a:ext cx="5359400" cy="5268912"/>
            </a:xfrm>
            <a:custGeom>
              <a:avLst/>
              <a:gdLst>
                <a:gd name="T0" fmla="*/ 296 w 592"/>
                <a:gd name="T1" fmla="*/ 582 h 582"/>
                <a:gd name="T2" fmla="*/ 258 w 592"/>
                <a:gd name="T3" fmla="*/ 566 h 582"/>
                <a:gd name="T4" fmla="*/ 21 w 592"/>
                <a:gd name="T5" fmla="*/ 329 h 582"/>
                <a:gd name="T6" fmla="*/ 21 w 592"/>
                <a:gd name="T7" fmla="*/ 252 h 582"/>
                <a:gd name="T8" fmla="*/ 258 w 592"/>
                <a:gd name="T9" fmla="*/ 16 h 582"/>
                <a:gd name="T10" fmla="*/ 296 w 592"/>
                <a:gd name="T11" fmla="*/ 0 h 582"/>
                <a:gd name="T12" fmla="*/ 334 w 592"/>
                <a:gd name="T13" fmla="*/ 16 h 582"/>
                <a:gd name="T14" fmla="*/ 571 w 592"/>
                <a:gd name="T15" fmla="*/ 252 h 582"/>
                <a:gd name="T16" fmla="*/ 571 w 592"/>
                <a:gd name="T17" fmla="*/ 329 h 582"/>
                <a:gd name="T18" fmla="*/ 334 w 592"/>
                <a:gd name="T19" fmla="*/ 566 h 582"/>
                <a:gd name="T20" fmla="*/ 296 w 592"/>
                <a:gd name="T21" fmla="*/ 582 h 582"/>
                <a:gd name="T22" fmla="*/ 296 w 592"/>
                <a:gd name="T23" fmla="*/ 10 h 582"/>
                <a:gd name="T24" fmla="*/ 265 w 592"/>
                <a:gd name="T25" fmla="*/ 23 h 582"/>
                <a:gd name="T26" fmla="*/ 28 w 592"/>
                <a:gd name="T27" fmla="*/ 259 h 582"/>
                <a:gd name="T28" fmla="*/ 28 w 592"/>
                <a:gd name="T29" fmla="*/ 322 h 582"/>
                <a:gd name="T30" fmla="*/ 265 w 592"/>
                <a:gd name="T31" fmla="*/ 559 h 582"/>
                <a:gd name="T32" fmla="*/ 296 w 592"/>
                <a:gd name="T33" fmla="*/ 572 h 582"/>
                <a:gd name="T34" fmla="*/ 327 w 592"/>
                <a:gd name="T35" fmla="*/ 559 h 582"/>
                <a:gd name="T36" fmla="*/ 564 w 592"/>
                <a:gd name="T37" fmla="*/ 322 h 582"/>
                <a:gd name="T38" fmla="*/ 564 w 592"/>
                <a:gd name="T39" fmla="*/ 259 h 582"/>
                <a:gd name="T40" fmla="*/ 327 w 592"/>
                <a:gd name="T41" fmla="*/ 23 h 582"/>
                <a:gd name="T42" fmla="*/ 296 w 592"/>
                <a:gd name="T43" fmla="*/ 1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2" h="582">
                  <a:moveTo>
                    <a:pt x="296" y="582"/>
                  </a:moveTo>
                  <a:cubicBezTo>
                    <a:pt x="282" y="582"/>
                    <a:pt x="268" y="576"/>
                    <a:pt x="258" y="566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0" y="308"/>
                    <a:pt x="0" y="274"/>
                    <a:pt x="21" y="252"/>
                  </a:cubicBezTo>
                  <a:cubicBezTo>
                    <a:pt x="258" y="16"/>
                    <a:pt x="258" y="16"/>
                    <a:pt x="258" y="16"/>
                  </a:cubicBezTo>
                  <a:cubicBezTo>
                    <a:pt x="268" y="5"/>
                    <a:pt x="282" y="0"/>
                    <a:pt x="296" y="0"/>
                  </a:cubicBezTo>
                  <a:cubicBezTo>
                    <a:pt x="311" y="0"/>
                    <a:pt x="324" y="5"/>
                    <a:pt x="334" y="16"/>
                  </a:cubicBezTo>
                  <a:cubicBezTo>
                    <a:pt x="571" y="252"/>
                    <a:pt x="571" y="252"/>
                    <a:pt x="571" y="252"/>
                  </a:cubicBezTo>
                  <a:cubicBezTo>
                    <a:pt x="592" y="274"/>
                    <a:pt x="592" y="308"/>
                    <a:pt x="571" y="329"/>
                  </a:cubicBezTo>
                  <a:cubicBezTo>
                    <a:pt x="334" y="566"/>
                    <a:pt x="334" y="566"/>
                    <a:pt x="334" y="566"/>
                  </a:cubicBezTo>
                  <a:cubicBezTo>
                    <a:pt x="324" y="576"/>
                    <a:pt x="311" y="582"/>
                    <a:pt x="296" y="582"/>
                  </a:cubicBezTo>
                  <a:close/>
                  <a:moveTo>
                    <a:pt x="296" y="10"/>
                  </a:moveTo>
                  <a:cubicBezTo>
                    <a:pt x="284" y="10"/>
                    <a:pt x="273" y="14"/>
                    <a:pt x="265" y="23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11" y="277"/>
                    <a:pt x="11" y="305"/>
                    <a:pt x="28" y="322"/>
                  </a:cubicBezTo>
                  <a:cubicBezTo>
                    <a:pt x="265" y="559"/>
                    <a:pt x="265" y="559"/>
                    <a:pt x="265" y="559"/>
                  </a:cubicBezTo>
                  <a:cubicBezTo>
                    <a:pt x="273" y="567"/>
                    <a:pt x="284" y="572"/>
                    <a:pt x="296" y="572"/>
                  </a:cubicBezTo>
                  <a:cubicBezTo>
                    <a:pt x="308" y="572"/>
                    <a:pt x="319" y="567"/>
                    <a:pt x="327" y="559"/>
                  </a:cubicBezTo>
                  <a:cubicBezTo>
                    <a:pt x="564" y="322"/>
                    <a:pt x="564" y="322"/>
                    <a:pt x="564" y="322"/>
                  </a:cubicBezTo>
                  <a:cubicBezTo>
                    <a:pt x="581" y="305"/>
                    <a:pt x="581" y="277"/>
                    <a:pt x="564" y="259"/>
                  </a:cubicBezTo>
                  <a:cubicBezTo>
                    <a:pt x="327" y="23"/>
                    <a:pt x="327" y="23"/>
                    <a:pt x="327" y="23"/>
                  </a:cubicBezTo>
                  <a:cubicBezTo>
                    <a:pt x="319" y="14"/>
                    <a:pt x="308" y="10"/>
                    <a:pt x="296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20" name="Freeform 1234"/>
            <p:cNvSpPr/>
            <p:nvPr>
              <p:custDataLst>
                <p:tags r:id="rId14"/>
              </p:custDataLst>
            </p:nvPr>
          </p:nvSpPr>
          <p:spPr bwMode="auto">
            <a:xfrm>
              <a:off x="-439065" y="612775"/>
              <a:ext cx="5009696" cy="5017704"/>
            </a:xfrm>
            <a:custGeom>
              <a:avLst/>
              <a:gdLst>
                <a:gd name="T0" fmla="*/ 634 w 1132"/>
                <a:gd name="T1" fmla="*/ 1095 h 1133"/>
                <a:gd name="T2" fmla="*/ 498 w 1132"/>
                <a:gd name="T3" fmla="*/ 1095 h 1133"/>
                <a:gd name="T4" fmla="*/ 37 w 1132"/>
                <a:gd name="T5" fmla="*/ 634 h 1133"/>
                <a:gd name="T6" fmla="*/ 37 w 1132"/>
                <a:gd name="T7" fmla="*/ 499 h 1133"/>
                <a:gd name="T8" fmla="*/ 498 w 1132"/>
                <a:gd name="T9" fmla="*/ 38 h 1133"/>
                <a:gd name="T10" fmla="*/ 634 w 1132"/>
                <a:gd name="T11" fmla="*/ 38 h 1133"/>
                <a:gd name="T12" fmla="*/ 1095 w 1132"/>
                <a:gd name="T13" fmla="*/ 499 h 1133"/>
                <a:gd name="T14" fmla="*/ 1095 w 1132"/>
                <a:gd name="T15" fmla="*/ 634 h 1133"/>
                <a:gd name="T16" fmla="*/ 634 w 1132"/>
                <a:gd name="T17" fmla="*/ 1095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1133">
                  <a:moveTo>
                    <a:pt x="634" y="1095"/>
                  </a:moveTo>
                  <a:cubicBezTo>
                    <a:pt x="596" y="1133"/>
                    <a:pt x="536" y="1133"/>
                    <a:pt x="498" y="1095"/>
                  </a:cubicBezTo>
                  <a:cubicBezTo>
                    <a:pt x="37" y="634"/>
                    <a:pt x="37" y="634"/>
                    <a:pt x="37" y="634"/>
                  </a:cubicBezTo>
                  <a:cubicBezTo>
                    <a:pt x="0" y="597"/>
                    <a:pt x="0" y="536"/>
                    <a:pt x="37" y="499"/>
                  </a:cubicBezTo>
                  <a:cubicBezTo>
                    <a:pt x="498" y="38"/>
                    <a:pt x="498" y="38"/>
                    <a:pt x="498" y="38"/>
                  </a:cubicBezTo>
                  <a:cubicBezTo>
                    <a:pt x="536" y="0"/>
                    <a:pt x="596" y="0"/>
                    <a:pt x="634" y="38"/>
                  </a:cubicBezTo>
                  <a:cubicBezTo>
                    <a:pt x="1095" y="499"/>
                    <a:pt x="1095" y="499"/>
                    <a:pt x="1095" y="499"/>
                  </a:cubicBezTo>
                  <a:cubicBezTo>
                    <a:pt x="1132" y="536"/>
                    <a:pt x="1132" y="597"/>
                    <a:pt x="1095" y="634"/>
                  </a:cubicBezTo>
                  <a:lnTo>
                    <a:pt x="634" y="10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3" name="矩形 22"/>
          <p:cNvSpPr/>
          <p:nvPr>
            <p:custDataLst>
              <p:tags r:id="rId15"/>
            </p:custDataLst>
          </p:nvPr>
        </p:nvSpPr>
        <p:spPr>
          <a:xfrm>
            <a:off x="1221105" y="2220595"/>
            <a:ext cx="741045" cy="46863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1</a:t>
            </a:r>
            <a:endParaRPr lang="en-US" altLang="zh-CN" sz="2400" dirty="0">
              <a:solidFill>
                <a:schemeClr val="bg1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lt"/>
            </a:endParaRPr>
          </a:p>
        </p:txBody>
      </p:sp>
      <p:sp>
        <p:nvSpPr>
          <p:cNvPr id="24" name="矩形 23"/>
          <p:cNvSpPr/>
          <p:nvPr>
            <p:custDataLst>
              <p:tags r:id="rId16"/>
            </p:custDataLst>
          </p:nvPr>
        </p:nvSpPr>
        <p:spPr>
          <a:xfrm>
            <a:off x="1221105" y="3394075"/>
            <a:ext cx="741045" cy="46863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2</a:t>
            </a:r>
            <a:endParaRPr lang="en-US" altLang="zh-CN" sz="2400" dirty="0">
              <a:solidFill>
                <a:schemeClr val="bg1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962150" y="2120900"/>
            <a:ext cx="9116060" cy="992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FABP5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Times New Roman Regular" panose="02020503050405090304" charset="0"/>
                <a:sym typeface="+mn-ea"/>
              </a:rPr>
              <a:t>高表达与黑色素瘤不良预后相关</a:t>
            </a:r>
            <a:r>
              <a:rPr lang="en-US" altLang="zh-CN" sz="2800">
                <a:latin typeface="宋体" pitchFamily="2" charset="-122"/>
                <a:ea typeface="宋体" pitchFamily="2" charset="-122"/>
                <a:cs typeface="Times New Roman Regular" panose="02020503050405090304" charset="0"/>
                <a:sym typeface="+mn-ea"/>
              </a:rPr>
              <a:t>，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Times New Roman Regular" panose="02020503050405090304" charset="0"/>
                <a:sym typeface="+mn-ea"/>
              </a:rPr>
              <a:t>并富集于肿瘤相关巨噬细胞</a:t>
            </a:r>
            <a:r>
              <a:rPr lang="en-US" altLang="zh-CN" sz="2800">
                <a:latin typeface="宋体" pitchFamily="2" charset="-122"/>
                <a:ea typeface="宋体" pitchFamily="2" charset="-122"/>
                <a:cs typeface="Times New Roman Regular" panose="02020503050405090304" charset="0"/>
                <a:sym typeface="+mn-ea"/>
              </a:rPr>
              <a:t>。</a:t>
            </a:r>
            <a:endParaRPr lang="zh-CN" altLang="en-US" sz="2800">
              <a:latin typeface="宋体" pitchFamily="2" charset="-122"/>
              <a:ea typeface="宋体" pitchFamily="2" charset="-122"/>
            </a:endParaRPr>
          </a:p>
          <a:p>
            <a:endParaRPr lang="zh-CN" altLang="en-US" sz="280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962150" y="3230245"/>
            <a:ext cx="9116695" cy="992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FABP5 </a:t>
            </a:r>
            <a:r>
              <a:rPr lang="zh-CN" altLang="en-US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缺失</a:t>
            </a:r>
            <a:r>
              <a:rPr lang="en-US" altLang="zh-CN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/</a:t>
            </a:r>
            <a:r>
              <a:rPr lang="zh-CN" altLang="en-US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抑制至少部分通过</a:t>
            </a:r>
            <a:r>
              <a:rPr lang="en-US" altLang="zh-CN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CD8</a:t>
            </a:r>
            <a:r>
              <a:rPr lang="en-US" altLang="en-US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⁺</a:t>
            </a:r>
            <a:r>
              <a:rPr lang="en-US" altLang="zh-CN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 </a:t>
            </a:r>
            <a:r>
              <a:rPr lang="zh-CN" altLang="en-US" sz="28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依赖的方式抑制黑色素瘤生长。</a:t>
            </a:r>
            <a:endParaRPr lang="zh-CN" altLang="en-US" sz="2800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endParaRPr lang="en-US" altLang="zh-CN">
              <a:latin typeface="宋体" pitchFamily="2" charset="-122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44" name="矩形 43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623392" y="310880"/>
                <a:ext cx="160782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anose="02020503050405090304" charset="0"/>
                  </a:rPr>
                  <a:t>研究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  <a:cs typeface="Times New Roman" panose="02020503050405090304" charset="0"/>
                  </a:rPr>
                  <a:t>结论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Times New Roman" panose="02020503050405090304" charset="0"/>
                </a:endParaRP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grpSp>
        <p:nvGrpSpPr>
          <p:cNvPr id="2" name="组合 1"/>
          <p:cNvGrpSpPr/>
          <p:nvPr>
            <p:custDataLst>
              <p:tags r:id="rId17"/>
            </p:custDataLst>
          </p:nvPr>
        </p:nvGrpSpPr>
        <p:grpSpPr>
          <a:xfrm>
            <a:off x="1137285" y="4567555"/>
            <a:ext cx="728980" cy="727710"/>
            <a:chOff x="-1090613" y="612775"/>
            <a:chExt cx="5661244" cy="5268912"/>
          </a:xfrm>
          <a:solidFill>
            <a:srgbClr val="C00000"/>
          </a:solidFill>
        </p:grpSpPr>
        <p:sp>
          <p:nvSpPr>
            <p:cNvPr id="3" name="Freeform 124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-1090613" y="612775"/>
              <a:ext cx="5359400" cy="5268912"/>
            </a:xfrm>
            <a:custGeom>
              <a:avLst/>
              <a:gdLst>
                <a:gd name="T0" fmla="*/ 296 w 592"/>
                <a:gd name="T1" fmla="*/ 582 h 582"/>
                <a:gd name="T2" fmla="*/ 258 w 592"/>
                <a:gd name="T3" fmla="*/ 566 h 582"/>
                <a:gd name="T4" fmla="*/ 21 w 592"/>
                <a:gd name="T5" fmla="*/ 329 h 582"/>
                <a:gd name="T6" fmla="*/ 21 w 592"/>
                <a:gd name="T7" fmla="*/ 252 h 582"/>
                <a:gd name="T8" fmla="*/ 258 w 592"/>
                <a:gd name="T9" fmla="*/ 16 h 582"/>
                <a:gd name="T10" fmla="*/ 296 w 592"/>
                <a:gd name="T11" fmla="*/ 0 h 582"/>
                <a:gd name="T12" fmla="*/ 334 w 592"/>
                <a:gd name="T13" fmla="*/ 16 h 582"/>
                <a:gd name="T14" fmla="*/ 571 w 592"/>
                <a:gd name="T15" fmla="*/ 252 h 582"/>
                <a:gd name="T16" fmla="*/ 571 w 592"/>
                <a:gd name="T17" fmla="*/ 329 h 582"/>
                <a:gd name="T18" fmla="*/ 334 w 592"/>
                <a:gd name="T19" fmla="*/ 566 h 582"/>
                <a:gd name="T20" fmla="*/ 296 w 592"/>
                <a:gd name="T21" fmla="*/ 582 h 582"/>
                <a:gd name="T22" fmla="*/ 296 w 592"/>
                <a:gd name="T23" fmla="*/ 10 h 582"/>
                <a:gd name="T24" fmla="*/ 265 w 592"/>
                <a:gd name="T25" fmla="*/ 23 h 582"/>
                <a:gd name="T26" fmla="*/ 28 w 592"/>
                <a:gd name="T27" fmla="*/ 259 h 582"/>
                <a:gd name="T28" fmla="*/ 28 w 592"/>
                <a:gd name="T29" fmla="*/ 322 h 582"/>
                <a:gd name="T30" fmla="*/ 265 w 592"/>
                <a:gd name="T31" fmla="*/ 559 h 582"/>
                <a:gd name="T32" fmla="*/ 296 w 592"/>
                <a:gd name="T33" fmla="*/ 572 h 582"/>
                <a:gd name="T34" fmla="*/ 327 w 592"/>
                <a:gd name="T35" fmla="*/ 559 h 582"/>
                <a:gd name="T36" fmla="*/ 564 w 592"/>
                <a:gd name="T37" fmla="*/ 322 h 582"/>
                <a:gd name="T38" fmla="*/ 564 w 592"/>
                <a:gd name="T39" fmla="*/ 259 h 582"/>
                <a:gd name="T40" fmla="*/ 327 w 592"/>
                <a:gd name="T41" fmla="*/ 23 h 582"/>
                <a:gd name="T42" fmla="*/ 296 w 592"/>
                <a:gd name="T43" fmla="*/ 1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2" h="582">
                  <a:moveTo>
                    <a:pt x="296" y="582"/>
                  </a:moveTo>
                  <a:cubicBezTo>
                    <a:pt x="282" y="582"/>
                    <a:pt x="268" y="576"/>
                    <a:pt x="258" y="566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0" y="308"/>
                    <a:pt x="0" y="274"/>
                    <a:pt x="21" y="252"/>
                  </a:cubicBezTo>
                  <a:cubicBezTo>
                    <a:pt x="258" y="16"/>
                    <a:pt x="258" y="16"/>
                    <a:pt x="258" y="16"/>
                  </a:cubicBezTo>
                  <a:cubicBezTo>
                    <a:pt x="268" y="5"/>
                    <a:pt x="282" y="0"/>
                    <a:pt x="296" y="0"/>
                  </a:cubicBezTo>
                  <a:cubicBezTo>
                    <a:pt x="311" y="0"/>
                    <a:pt x="324" y="5"/>
                    <a:pt x="334" y="16"/>
                  </a:cubicBezTo>
                  <a:cubicBezTo>
                    <a:pt x="571" y="252"/>
                    <a:pt x="571" y="252"/>
                    <a:pt x="571" y="252"/>
                  </a:cubicBezTo>
                  <a:cubicBezTo>
                    <a:pt x="592" y="274"/>
                    <a:pt x="592" y="308"/>
                    <a:pt x="571" y="329"/>
                  </a:cubicBezTo>
                  <a:cubicBezTo>
                    <a:pt x="334" y="566"/>
                    <a:pt x="334" y="566"/>
                    <a:pt x="334" y="566"/>
                  </a:cubicBezTo>
                  <a:cubicBezTo>
                    <a:pt x="324" y="576"/>
                    <a:pt x="311" y="582"/>
                    <a:pt x="296" y="582"/>
                  </a:cubicBezTo>
                  <a:close/>
                  <a:moveTo>
                    <a:pt x="296" y="10"/>
                  </a:moveTo>
                  <a:cubicBezTo>
                    <a:pt x="284" y="10"/>
                    <a:pt x="273" y="14"/>
                    <a:pt x="265" y="23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11" y="277"/>
                    <a:pt x="11" y="305"/>
                    <a:pt x="28" y="322"/>
                  </a:cubicBezTo>
                  <a:cubicBezTo>
                    <a:pt x="265" y="559"/>
                    <a:pt x="265" y="559"/>
                    <a:pt x="265" y="559"/>
                  </a:cubicBezTo>
                  <a:cubicBezTo>
                    <a:pt x="273" y="567"/>
                    <a:pt x="284" y="572"/>
                    <a:pt x="296" y="572"/>
                  </a:cubicBezTo>
                  <a:cubicBezTo>
                    <a:pt x="308" y="572"/>
                    <a:pt x="319" y="567"/>
                    <a:pt x="327" y="559"/>
                  </a:cubicBezTo>
                  <a:cubicBezTo>
                    <a:pt x="564" y="322"/>
                    <a:pt x="564" y="322"/>
                    <a:pt x="564" y="322"/>
                  </a:cubicBezTo>
                  <a:cubicBezTo>
                    <a:pt x="581" y="305"/>
                    <a:pt x="581" y="277"/>
                    <a:pt x="564" y="259"/>
                  </a:cubicBezTo>
                  <a:cubicBezTo>
                    <a:pt x="327" y="23"/>
                    <a:pt x="327" y="23"/>
                    <a:pt x="327" y="23"/>
                  </a:cubicBezTo>
                  <a:cubicBezTo>
                    <a:pt x="319" y="14"/>
                    <a:pt x="308" y="10"/>
                    <a:pt x="296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" name="Freeform 1234"/>
            <p:cNvSpPr/>
            <p:nvPr>
              <p:custDataLst>
                <p:tags r:id="rId19"/>
              </p:custDataLst>
            </p:nvPr>
          </p:nvSpPr>
          <p:spPr bwMode="auto">
            <a:xfrm>
              <a:off x="-439065" y="612775"/>
              <a:ext cx="5009696" cy="5017704"/>
            </a:xfrm>
            <a:custGeom>
              <a:avLst/>
              <a:gdLst>
                <a:gd name="T0" fmla="*/ 634 w 1132"/>
                <a:gd name="T1" fmla="*/ 1095 h 1133"/>
                <a:gd name="T2" fmla="*/ 498 w 1132"/>
                <a:gd name="T3" fmla="*/ 1095 h 1133"/>
                <a:gd name="T4" fmla="*/ 37 w 1132"/>
                <a:gd name="T5" fmla="*/ 634 h 1133"/>
                <a:gd name="T6" fmla="*/ 37 w 1132"/>
                <a:gd name="T7" fmla="*/ 499 h 1133"/>
                <a:gd name="T8" fmla="*/ 498 w 1132"/>
                <a:gd name="T9" fmla="*/ 38 h 1133"/>
                <a:gd name="T10" fmla="*/ 634 w 1132"/>
                <a:gd name="T11" fmla="*/ 38 h 1133"/>
                <a:gd name="T12" fmla="*/ 1095 w 1132"/>
                <a:gd name="T13" fmla="*/ 499 h 1133"/>
                <a:gd name="T14" fmla="*/ 1095 w 1132"/>
                <a:gd name="T15" fmla="*/ 634 h 1133"/>
                <a:gd name="T16" fmla="*/ 634 w 1132"/>
                <a:gd name="T17" fmla="*/ 1095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1133">
                  <a:moveTo>
                    <a:pt x="634" y="1095"/>
                  </a:moveTo>
                  <a:cubicBezTo>
                    <a:pt x="596" y="1133"/>
                    <a:pt x="536" y="1133"/>
                    <a:pt x="498" y="1095"/>
                  </a:cubicBezTo>
                  <a:cubicBezTo>
                    <a:pt x="37" y="634"/>
                    <a:pt x="37" y="634"/>
                    <a:pt x="37" y="634"/>
                  </a:cubicBezTo>
                  <a:cubicBezTo>
                    <a:pt x="0" y="597"/>
                    <a:pt x="0" y="536"/>
                    <a:pt x="37" y="499"/>
                  </a:cubicBezTo>
                  <a:cubicBezTo>
                    <a:pt x="498" y="38"/>
                    <a:pt x="498" y="38"/>
                    <a:pt x="498" y="38"/>
                  </a:cubicBezTo>
                  <a:cubicBezTo>
                    <a:pt x="536" y="0"/>
                    <a:pt x="596" y="0"/>
                    <a:pt x="634" y="38"/>
                  </a:cubicBezTo>
                  <a:cubicBezTo>
                    <a:pt x="1095" y="499"/>
                    <a:pt x="1095" y="499"/>
                    <a:pt x="1095" y="499"/>
                  </a:cubicBezTo>
                  <a:cubicBezTo>
                    <a:pt x="1132" y="536"/>
                    <a:pt x="1132" y="597"/>
                    <a:pt x="1095" y="634"/>
                  </a:cubicBezTo>
                  <a:lnTo>
                    <a:pt x="634" y="10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20"/>
            </p:custDataLst>
          </p:nvPr>
        </p:nvSpPr>
        <p:spPr>
          <a:xfrm>
            <a:off x="1221105" y="4662170"/>
            <a:ext cx="765175" cy="52197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3</a:t>
            </a:r>
            <a:endParaRPr lang="en-US" altLang="zh-CN" sz="2400" dirty="0">
              <a:solidFill>
                <a:schemeClr val="bg1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33575" y="4445000"/>
            <a:ext cx="9245600" cy="10839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机制线索提示</a:t>
            </a:r>
            <a:r>
              <a:rPr lang="en-US" altLang="zh-CN" sz="28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FABP5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缺失上调</a:t>
            </a:r>
            <a:r>
              <a:rPr lang="en-US" altLang="zh-CN" sz="28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TAM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来源</a:t>
            </a:r>
            <a:r>
              <a:rPr lang="en-US" altLang="zh-CN" sz="28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CXCL9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表达，可能经</a:t>
            </a:r>
            <a:r>
              <a:rPr lang="en-US" altLang="zh-CN" sz="28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CXCR3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招募活化的</a:t>
            </a:r>
            <a:r>
              <a:rPr lang="en-US" altLang="zh-CN" sz="28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CD8</a:t>
            </a:r>
            <a:r>
              <a:rPr lang="en-US" altLang="zh-CN" sz="2800" baseline="300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+</a:t>
            </a:r>
            <a:r>
              <a:rPr lang="en-US" altLang="zh-CN" sz="280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T</a:t>
            </a:r>
            <a:r>
              <a:rPr lang="zh-CN" altLang="en-US" sz="2800">
                <a:latin typeface="宋体" pitchFamily="2" charset="-122"/>
                <a:ea typeface="宋体" pitchFamily="2" charset="-122"/>
                <a:cs typeface="宋体" pitchFamily="2" charset="-122"/>
              </a:rPr>
              <a:t>细胞，从而抑制黑色素瘤生长。</a:t>
            </a:r>
            <a:endParaRPr lang="zh-CN" altLang="en-US" sz="2800">
              <a:highlight>
                <a:srgbClr val="FFFF00"/>
              </a:highlight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98750" y="874395"/>
            <a:ext cx="6264275" cy="965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44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sym typeface="+mn-ea"/>
              </a:rPr>
              <a:t>总结</a:t>
            </a:r>
            <a:endParaRPr lang="zh-CN" sz="4400" b="1" dirty="0">
              <a:solidFill>
                <a:srgbClr val="C00000"/>
              </a:solidFill>
              <a:latin typeface="宋体" pitchFamily="2" charset="-122"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7" name="矩形 6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623392" y="310880"/>
                <a:ext cx="1964055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局限与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展望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sp>
        <p:nvSpPr>
          <p:cNvPr id="3" name="文本框 2"/>
          <p:cNvSpPr txBox="1"/>
          <p:nvPr/>
        </p:nvSpPr>
        <p:spPr>
          <a:xfrm>
            <a:off x="695325" y="1377950"/>
            <a:ext cx="10265410" cy="4690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l" fontAlgn="auto">
              <a:spcAft>
                <a:spcPts val="600"/>
              </a:spcAft>
              <a:buClrTx/>
              <a:buSzTx/>
              <a:buFont typeface="Wingdings" panose="05000000000000000000" charset="0"/>
              <a:buChar char="l"/>
            </a:pPr>
            <a:r>
              <a:rPr lang="en-US" altLang="zh-CN" sz="24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FABP5 — </a:t>
            </a:r>
            <a:r>
              <a:rPr lang="zh-CN" altLang="en-US" sz="24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脂质代谢</a:t>
            </a:r>
            <a:r>
              <a:rPr lang="en-US" altLang="zh-CN" sz="24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— CXCL9</a:t>
            </a:r>
            <a:r>
              <a:rPr lang="zh-CN" altLang="en-US" sz="24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转录调控链尚未解析</a:t>
            </a:r>
            <a:endParaRPr lang="zh-CN" altLang="en-US" sz="2400" b="1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spcAft>
                <a:spcPts val="600"/>
              </a:spcAft>
              <a:buClrTx/>
              <a:buSzTx/>
              <a:buFont typeface="Wingdings" panose="05000000000000000000" charset="0"/>
              <a:buChar char="l"/>
            </a:pPr>
            <a:endParaRPr lang="zh-CN" altLang="en-US" sz="2400" b="1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spcAft>
                <a:spcPts val="600"/>
              </a:spcAft>
              <a:buClrTx/>
              <a:buSzTx/>
              <a:buFont typeface="Wingdings" panose="05000000000000000000" charset="0"/>
              <a:buChar char="l"/>
            </a:pPr>
            <a:r>
              <a:rPr lang="en-US" altLang="zh-CN" sz="24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CXCL9 – CXCR3</a:t>
            </a:r>
            <a:r>
              <a:rPr lang="zh-CN" altLang="en-US" sz="24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轴缺乏阻断实验验证</a:t>
            </a:r>
            <a:endParaRPr lang="zh-CN" altLang="en-US" sz="2400" b="1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spcAft>
                <a:spcPts val="600"/>
              </a:spcAft>
              <a:buClrTx/>
              <a:buSzTx/>
              <a:buFont typeface="Wingdings" panose="05000000000000000000" charset="0"/>
              <a:buChar char="l"/>
            </a:pPr>
            <a:endParaRPr lang="zh-CN" altLang="en-US" sz="2400" b="1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spcAft>
                <a:spcPts val="600"/>
              </a:spcAft>
              <a:buClrTx/>
              <a:buSzTx/>
              <a:buFont typeface="Wingdings" panose="05000000000000000000" charset="0"/>
              <a:buChar char="l"/>
            </a:pPr>
            <a:endParaRPr lang="zh-CN" altLang="en-US" sz="220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indent="558800" algn="l" fontAlgn="auto">
              <a:spcAft>
                <a:spcPts val="600"/>
              </a:spcAft>
              <a:buClrTx/>
              <a:buSzTx/>
              <a:buFont typeface="Wingdings" panose="05000000000000000000" charset="0"/>
              <a:buNone/>
              <a:extLst>
                <a:ext uri="{35155182-B16C-46BC-9424-99874614C6A1}">
                  <wpsdc:indentchars xmlns:wpsdc="http://www.wps.cn/officeDocument/2017/drawingmlCustomData" val="200" checksum="1956455923"/>
                </a:ext>
              </a:extLst>
            </a:pPr>
            <a:endParaRPr lang="zh-CN" altLang="en-US" sz="220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342900" indent="-342900" algn="l" fontAlgn="auto">
              <a:spcAft>
                <a:spcPts val="600"/>
              </a:spcAft>
              <a:buClrTx/>
              <a:buSzTx/>
              <a:buFont typeface="Wingdings" panose="05000000000000000000" charset="0"/>
              <a:buChar char="l"/>
            </a:pPr>
            <a:endParaRPr lang="zh-CN" altLang="en-US" sz="2400" b="1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342900" lvl="0" indent="-342900" algn="l" fontAlgn="auto">
              <a:spcAft>
                <a:spcPts val="600"/>
              </a:spcAft>
              <a:buClrTx/>
              <a:buSzTx/>
              <a:buFont typeface="Wingdings" panose="05000000000000000000" charset="0"/>
              <a:buChar char="l"/>
            </a:pPr>
            <a:endParaRPr lang="zh-CN" altLang="en-US" sz="2200"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</p:spTree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40" b="14761"/>
          <a:stretch>
            <a:fillRect/>
          </a:stretch>
        </p:blipFill>
        <p:spPr>
          <a:xfrm>
            <a:off x="0" y="0"/>
            <a:ext cx="12192000" cy="368491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cxnSp>
        <p:nvCxnSpPr>
          <p:cNvPr id="5" name="直接连接符 4"/>
          <p:cNvCxnSpPr/>
          <p:nvPr/>
        </p:nvCxnSpPr>
        <p:spPr>
          <a:xfrm>
            <a:off x="4058745" y="5686961"/>
            <a:ext cx="4664710" cy="0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0">
                  <a:srgbClr val="961318"/>
                </a:gs>
                <a:gs pos="60000">
                  <a:srgbClr val="961318">
                    <a:alpha val="40000"/>
                  </a:srgbClr>
                </a:gs>
                <a:gs pos="92000">
                  <a:srgbClr val="961318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</p:cxnSp>
      <p:sp>
        <p:nvSpPr>
          <p:cNvPr id="16" name="椭圆 15"/>
          <p:cNvSpPr/>
          <p:nvPr/>
        </p:nvSpPr>
        <p:spPr>
          <a:xfrm>
            <a:off x="5271207" y="2457000"/>
            <a:ext cx="1572746" cy="1572746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等线" panose="02010600030101010101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93543" y="2479336"/>
            <a:ext cx="1528074" cy="1528074"/>
          </a:xfrm>
          <a:prstGeom prst="ellipse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147935" y="5059211"/>
            <a:ext cx="557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Arial" panose="020B0604020202090204"/>
                <a:ea typeface="等线" panose="02010600030101010101" charset="-122"/>
                <a:cs typeface="+mn-cs"/>
              </a:rPr>
              <a:t>THANKS FOR YOUR LISTENING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Arial" panose="020B0604020202090204"/>
                <a:ea typeface="等线" panose="02010600030101010101" charset="-122"/>
                <a:cs typeface="+mn-cs"/>
              </a:rPr>
              <a:t>!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srgbClr val="961318"/>
              </a:solidFill>
              <a:effectLst/>
              <a:uLnTx/>
              <a:uFillTx/>
              <a:latin typeface="Arial" panose="020B0604020202090204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4128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4800" b="1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汇报结束  感谢聆听</a:t>
            </a:r>
            <a:r>
              <a:rPr lang="zh-CN" altLang="en-US" sz="4800" b="1" i="1" dirty="0">
                <a:solidFill>
                  <a:srgbClr val="961318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！</a:t>
            </a:r>
            <a:endParaRPr lang="zh-CN" altLang="en-US" sz="4800" b="1" dirty="0">
              <a:solidFill>
                <a:srgbClr val="961318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776730" y="5859780"/>
            <a:ext cx="2499360" cy="625475"/>
            <a:chOff x="1767755" y="5835880"/>
            <a:chExt cx="2273210" cy="463012"/>
          </a:xfrm>
        </p:grpSpPr>
        <p:sp>
          <p:nvSpPr>
            <p:cNvPr id="18" name="矩形: 圆角 6"/>
            <p:cNvSpPr/>
            <p:nvPr/>
          </p:nvSpPr>
          <p:spPr>
            <a:xfrm>
              <a:off x="1767755" y="5835880"/>
              <a:ext cx="2273210" cy="463012"/>
            </a:xfrm>
            <a:prstGeom prst="roundRect">
              <a:avLst>
                <a:gd name="adj" fmla="val 22153"/>
              </a:avLst>
            </a:prstGeom>
            <a:solidFill>
              <a:srgbClr val="96131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824140" y="5931068"/>
              <a:ext cx="2160442" cy="2726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汇报人：余叶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772025" y="5859780"/>
            <a:ext cx="2805430" cy="625475"/>
            <a:chOff x="4873792" y="5835880"/>
            <a:chExt cx="2053147" cy="463012"/>
          </a:xfrm>
        </p:grpSpPr>
        <p:sp>
          <p:nvSpPr>
            <p:cNvPr id="21" name="矩形: 圆角 9"/>
            <p:cNvSpPr/>
            <p:nvPr/>
          </p:nvSpPr>
          <p:spPr>
            <a:xfrm>
              <a:off x="4985965" y="5835880"/>
              <a:ext cx="1828800" cy="463012"/>
            </a:xfrm>
            <a:prstGeom prst="roundRect">
              <a:avLst>
                <a:gd name="adj" fmla="val 22153"/>
              </a:avLst>
            </a:prstGeom>
            <a:solidFill>
              <a:srgbClr val="96131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cs typeface="+mn-cs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873792" y="5931068"/>
              <a:ext cx="2053147" cy="2726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指导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教师：林玉丽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044180" y="5859780"/>
            <a:ext cx="2805430" cy="625475"/>
            <a:chOff x="8333639" y="5835880"/>
            <a:chExt cx="2552076" cy="463012"/>
          </a:xfrm>
        </p:grpSpPr>
        <p:sp>
          <p:nvSpPr>
            <p:cNvPr id="24" name="矩形: 圆角 13"/>
            <p:cNvSpPr/>
            <p:nvPr/>
          </p:nvSpPr>
          <p:spPr>
            <a:xfrm>
              <a:off x="8473071" y="5835880"/>
              <a:ext cx="2273210" cy="463012"/>
            </a:xfrm>
            <a:prstGeom prst="roundRect">
              <a:avLst>
                <a:gd name="adj" fmla="val 22153"/>
              </a:avLst>
            </a:prstGeom>
            <a:solidFill>
              <a:srgbClr val="96131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cs typeface="+mn-cs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333639" y="5931068"/>
              <a:ext cx="2552076" cy="27263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chemeClr val="bg1"/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日期：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 Regular" panose="02020503050405090304" charset="0"/>
                  <a:cs typeface="Times New Roman Regular" panose="02020503050405090304" charset="0"/>
                </a:rPr>
                <a:t>2026-10-20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88" y="6420418"/>
            <a:ext cx="2752321" cy="36656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001119" y="183711"/>
            <a:ext cx="1964493" cy="708062"/>
            <a:chOff x="4246274" y="-10895"/>
            <a:chExt cx="3940182" cy="1420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4246274" y="-10895"/>
              <a:ext cx="3940181" cy="1400681"/>
              <a:chOff x="6547903" y="954561"/>
              <a:chExt cx="5069293" cy="1802069"/>
            </a:xfrm>
          </p:grpSpPr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47903" y="985519"/>
                <a:ext cx="1771106" cy="1771111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0228" y="954561"/>
                <a:ext cx="3346968" cy="1271930"/>
              </a:xfrm>
              <a:prstGeom prst="rect">
                <a:avLst/>
              </a:prstGeom>
            </p:spPr>
          </p:pic>
        </p:grpSp>
        <p:sp>
          <p:nvSpPr>
            <p:cNvPr id="30" name="矩形 29"/>
            <p:cNvSpPr/>
            <p:nvPr/>
          </p:nvSpPr>
          <p:spPr>
            <a:xfrm>
              <a:off x="5622894" y="915420"/>
              <a:ext cx="2563562" cy="493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rPr>
                <a:t>FUDAN UNIVERSITY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0" y="140728"/>
            <a:ext cx="3575720" cy="838986"/>
            <a:chOff x="0" y="260648"/>
            <a:chExt cx="3575720" cy="838986"/>
          </a:xfrm>
        </p:grpSpPr>
        <p:sp>
          <p:nvSpPr>
            <p:cNvPr id="7" name="矩形 6"/>
            <p:cNvSpPr/>
            <p:nvPr/>
          </p:nvSpPr>
          <p:spPr>
            <a:xfrm>
              <a:off x="0" y="307546"/>
              <a:ext cx="551384" cy="792088"/>
            </a:xfrm>
            <a:prstGeom prst="rect">
              <a:avLst/>
            </a:prstGeom>
            <a:solidFill>
              <a:srgbClr val="961318"/>
            </a:solidFill>
            <a:ln w="25400" cap="flat" cmpd="sng" algn="ctr">
              <a:solidFill>
                <a:srgbClr val="961318"/>
              </a:solidFill>
              <a:prstDash val="solid"/>
            </a:ln>
            <a:effectLst/>
          </p:spPr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95400" y="260648"/>
              <a:ext cx="2880320" cy="574366"/>
              <a:chOff x="623392" y="310880"/>
              <a:chExt cx="2880320" cy="574366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623392" y="310880"/>
                <a:ext cx="1251585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备用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503050405090304" charset="0"/>
                    <a:ea typeface="宋体" pitchFamily="2" charset="-122"/>
                    <a:cs typeface="Times New Roman" panose="02020503050405090304" charset="0"/>
                  </a:rPr>
                  <a:t>页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>
                <a:off x="623392" y="885246"/>
                <a:ext cx="2880320" cy="0"/>
              </a:xfrm>
              <a:prstGeom prst="line">
                <a:avLst/>
              </a:prstGeom>
              <a:noFill/>
              <a:ln w="28575" cap="flat" cmpd="sng" algn="ctr">
                <a:gradFill flip="none" rotWithShape="1">
                  <a:gsLst>
                    <a:gs pos="0">
                      <a:srgbClr val="961318"/>
                    </a:gs>
                    <a:gs pos="81000">
                      <a:srgbClr val="961318">
                        <a:alpha val="20000"/>
                      </a:srgbClr>
                    </a:gs>
                    <a:gs pos="100000">
                      <a:srgbClr val="961318">
                        <a:alpha val="0"/>
                      </a:srgbClr>
                    </a:gs>
                  </a:gsLst>
                  <a:lin ang="0" scaled="1"/>
                  <a:tileRect/>
                </a:gradFill>
                <a:prstDash val="solid"/>
              </a:ln>
              <a:effectLst/>
            </p:spPr>
          </p:cxnSp>
        </p:grpSp>
      </p:grpSp>
      <p:pic>
        <p:nvPicPr>
          <p:cNvPr id="4" name="图片 3" descr="UMAP_gene_dens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545" y="772795"/>
            <a:ext cx="8343265" cy="598932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tags/tag1.xml><?xml version="1.0" encoding="utf-8"?>
<p:tagLst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2.xml><?xml version="1.0" encoding="utf-8"?>
<p:tagLst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3.xml><?xml version="1.0" encoding="utf-8"?>
<p:tagLst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4.xml><?xml version="1.0" encoding="utf-8"?>
<p:tagLst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5.xml><?xml version="1.0" encoding="utf-8"?>
<p:tagLst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6.xml><?xml version="1.0" encoding="utf-8"?>
<p:tagLst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7.xml><?xml version="1.0" encoding="utf-8"?>
<p:tagLst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8.xml><?xml version="1.0" encoding="utf-8"?>
<p:tagLst xmlns:p="http://schemas.openxmlformats.org/presentationml/2006/main">
  <p:tag name="KSO_WM_DIAGRAM_VIRTUALLY_FRAME" val="{&quot;height&quot;:371.8874803149606,&quot;left&quot;:515.2996062992127,&quot;top&quot;:131.9912598425197,&quot;width&quot;:401.6503937007874}"/>
</p:tagLst>
</file>

<file path=ppt/tags/tag9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0.xml><?xml version="1.0" encoding="utf-8"?>
<p:tagLst xmlns:p="http://schemas.openxmlformats.org/presentationml/2006/main">
  <p:tag name="KSO_WM_DIAGRAM_VIRTUALLY_FRAME" val="{&quot;height&quot;:264.65,&quot;left&quot;:412.95,&quot;top&quot;:76.65,&quot;width&quot;:454.4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4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5.xml><?xml version="1.0" encoding="utf-8"?>
<p:tagLst xmlns:p="http://schemas.openxmlformats.org/presentationml/2006/main">
  <p:tag name="KSO_WM_DIAGRAM_VIRTUALLY_FRAME" val="{&quot;height&quot;:264.65,&quot;left&quot;:412.95,&quot;top&quot;:76.65,&quot;width&quot;:454.4}"/>
</p:tagLst>
</file>

<file path=ppt/tags/tag16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7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8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19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0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1.xml><?xml version="1.0" encoding="utf-8"?>
<p:tagLst xmlns:p="http://schemas.openxmlformats.org/presentationml/2006/main">
  <p:tag name="KSO_WM_DIAGRAM_VIRTUALLY_FRAME" val="{&quot;height&quot;:264.65,&quot;left&quot;:412.95,&quot;top&quot;:76.65,&quot;width&quot;:454.4}"/>
</p:tagLst>
</file>

<file path=ppt/tags/tag22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3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4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5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6.xml><?xml version="1.0" encoding="utf-8"?>
<p:tagLst xmlns:p="http://schemas.openxmlformats.org/presentationml/2006/main">
  <p:tag name="KSO_WM_DIAGRAM_VIRTUALLY_FRAME" val="{&quot;height&quot;:264.65,&quot;left&quot;:412.95,&quot;top&quot;:76.65,&quot;width&quot;:454.4}"/>
</p:tagLst>
</file>

<file path=ppt/tags/tag27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8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29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30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31.xml><?xml version="1.0" encoding="utf-8"?>
<p:tagLst xmlns:p="http://schemas.openxmlformats.org/presentationml/2006/main">
  <p:tag name="KSO_WM_DIAGRAM_VIRTUALLY_FRAME" val="{&quot;height&quot;:264.65,&quot;left&quot;:412.95,&quot;top&quot;:76.65,&quot;width&quot;:454.4}"/>
</p:tagLst>
</file>

<file path=ppt/tags/tag32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33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ags/tag34.xml><?xml version="1.0" encoding="utf-8"?>
<p:tagLst xmlns:p="http://schemas.openxmlformats.org/presentationml/2006/main">
  <p:tag name="KSO_WM_BEAUTIFY_FLAG" val=""/>
  <p:tag name="KSO_WM_DIAGRAM_VIRTUALLY_FRAME" val="{&quot;height&quot;:264.65,&quot;left&quot;:412.95,&quot;top&quot;:76.65,&quot;width&quot;:454.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>
            <a:latin typeface="宋体" pitchFamily="2" charset="-122"/>
            <a:ea typeface="宋体" pitchFamily="2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2157</Words>
  <Application>WPS 表格</Application>
  <PresentationFormat>宽屏</PresentationFormat>
  <Paragraphs>235</Paragraphs>
  <Slides>18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61" baseType="lpstr">
      <vt:lpstr>Arial</vt:lpstr>
      <vt:lpstr>宋体</vt:lpstr>
      <vt:lpstr>Wingdings</vt:lpstr>
      <vt:lpstr>汉仪书宋二KW</vt:lpstr>
      <vt:lpstr>Arial</vt:lpstr>
      <vt:lpstr>Times New Roman Regular</vt:lpstr>
      <vt:lpstr>思源宋体 Heavy</vt:lpstr>
      <vt:lpstr>Calibri Light</vt:lpstr>
      <vt:lpstr>Calibri</vt:lpstr>
      <vt:lpstr>微软雅黑</vt:lpstr>
      <vt:lpstr>思源宋体 CN Heavy</vt:lpstr>
      <vt:lpstr>Arial Black</vt:lpstr>
      <vt:lpstr>苹方 常规</vt:lpstr>
      <vt:lpstr>Roboto Condensed</vt:lpstr>
      <vt:lpstr>Helvetica Neue</vt:lpstr>
      <vt:lpstr>Times New Roman</vt:lpstr>
      <vt:lpstr>Times New Roman Bold Italic</vt:lpstr>
      <vt:lpstr>Wingdings</vt:lpstr>
      <vt:lpstr>思源黑体 Regular</vt:lpstr>
      <vt:lpstr>汉仪旗黑</vt:lpstr>
      <vt:lpstr>宋体</vt:lpstr>
      <vt:lpstr>Arial Unicode MS</vt:lpstr>
      <vt:lpstr>等线 Light</vt:lpstr>
      <vt:lpstr>汉仪中等线KW</vt:lpstr>
      <vt:lpstr>等线</vt:lpstr>
      <vt:lpstr>Times New Roman Bold</vt:lpstr>
      <vt:lpstr>Arial Bold</vt:lpstr>
      <vt:lpstr>等线</vt:lpstr>
      <vt:lpstr>冬青黑体简体中文</vt:lpstr>
      <vt:lpstr>苹方-简</vt:lpstr>
      <vt:lpstr>汉仪中黑KW</vt:lpstr>
      <vt:lpstr>微软雅黑</vt:lpstr>
      <vt:lpstr>思源宋体 CN Heavy</vt:lpstr>
      <vt:lpstr>思源宋体 Heavy</vt:lpstr>
      <vt:lpstr>思源黑体 Regular</vt:lpstr>
      <vt:lpstr>苹方 常规</vt:lpstr>
      <vt:lpstr>Arial Regular</vt:lpstr>
      <vt:lpstr>Office 主题​​</vt:lpstr>
      <vt:lpstr>1_Office 主题​​</vt:lpstr>
      <vt:lpstr>Prism10.Document</vt:lpstr>
      <vt:lpstr>Prism10.Document</vt:lpstr>
      <vt:lpstr>Prism10.Document</vt:lpstr>
      <vt:lpstr>Prism10.Document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余叶</cp:lastModifiedBy>
  <cp:revision>152</cp:revision>
  <dcterms:created xsi:type="dcterms:W3CDTF">2026-10-19T07:48:14Z</dcterms:created>
  <dcterms:modified xsi:type="dcterms:W3CDTF">2026-10-19T07:48:14Z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0653BBCD3AE95A7F3B60CF6A4DD79342_43</vt:lpwstr>
  </property>
  <property fmtid="{D5CDD505-2E9C-101B-9397-08002B2CF9AE}" pid="3" name="KSOProductBuildVer">
    <vt:lpwstr>2052-12.1.23540.23540</vt:lpwstr>
  </property>
</Properties>
</file>